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4" r:id="rId18"/>
    <p:sldId id="263" r:id="rId17"/>
    <p:sldId id="262" r:id="rId16"/>
    <p:sldId id="261" r:id="rId11"/>
  </p:sldIdLst>
  <p:sldSz cy="5143500" cx="9144000"/>
  <p:notesSz cx="6858000" cy="9144000"/>
  <p:embeddedFontLst>
    <p:embeddedFont>
      <p:font typeface="Manrope SemiBold"/>
      <p:regular r:id="rId12"/>
      <p:bold r:id="rId13"/>
    </p:embeddedFont>
    <p:embeddedFont>
      <p:font typeface="Manrope"/>
      <p:regular r:id="rId14"/>
      <p:bold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9.xml"/><Relationship Id="rId12" Type="http://schemas.openxmlformats.org/officeDocument/2006/relationships/font" Target="fonts/ManropeSemiBold-regular.fntdata"/><Relationship Id="rId13" Type="http://schemas.openxmlformats.org/officeDocument/2006/relationships/font" Target="fonts/ManropeSemiBold-bold.fntdata"/><Relationship Id="rId14" Type="http://schemas.openxmlformats.org/officeDocument/2006/relationships/font" Target="fonts/Manrope-regular.fntdata"/><Relationship Id="rId15" Type="http://schemas.openxmlformats.org/officeDocument/2006/relationships/font" Target="fonts/Manrope-bold.fntdata"/><Relationship Id="rId16" Type="http://schemas.openxmlformats.org/officeDocument/2006/relationships/slide" Target="slides/slide8.xml"/><Relationship Id="rId17" Type="http://schemas.openxmlformats.org/officeDocument/2006/relationships/slide" Target="slides/slide7.xml"/><Relationship Id="rId18"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Naive baseline</c:v>
                </c:pt>
              </c:strCache>
            </c:strRef>
          </c:tx>
          <c:spPr>
            <a:solidFill>
              <a:srgbClr val="9AA3AE"/>
            </a:solidFill>
          </c:spPr>
          <c:cat>
            <c:strRef>
              <c:f>Sheet1!$A$2:$A$5</c:f>
              <c:strCache>
                <c:ptCount val="4"/>
                <c:pt idx="0">
                  <c:v>Recall (8)</c:v>
                </c:pt>
                <c:pt idx="1">
                  <c:v>Gotcha (5)</c:v>
                </c:pt>
                <c:pt idx="2">
                  <c:v>Analytics (7)</c:v>
                </c:pt>
                <c:pt idx="3">
                  <c:v>Boundary refusals (5)</c:v>
                </c:pt>
              </c:strCache>
            </c:strRef>
          </c:cat>
          <c:val>
            <c:numRef>
              <c:f>Sheet1!$B$2:$B$5</c:f>
              <c:numCache>
                <c:formatCode>General</c:formatCode>
                <c:ptCount val="4"/>
                <c:pt idx="0">
                  <c:v>0.5</c:v>
                </c:pt>
                <c:pt idx="1">
                  <c:v>0.4</c:v>
                </c:pt>
                <c:pt idx="2">
                  <c:v>0.14285714285714285</c:v>
                </c:pt>
                <c:pt idx="3">
                  <c:v>0.6</c:v>
                </c:pt>
              </c:numCache>
            </c:numRef>
          </c:val>
        </c:ser>
        <c:ser>
          <c:idx val="1"/>
          <c:order val="1"/>
          <c:tx>
            <c:strRef>
              <c:f>Sheet1!$C$1</c:f>
              <c:strCache>
                <c:ptCount val="1"/>
                <c:pt idx="0">
                  <c:v>Plant Brain</c:v>
                </c:pt>
              </c:strCache>
            </c:strRef>
          </c:tx>
          <c:spPr>
            <a:solidFill>
              <a:srgbClr val="0A63C9"/>
            </a:solidFill>
          </c:spPr>
          <c:cat>
            <c:strRef>
              <c:f>Sheet1!$A$2:$A$5</c:f>
              <c:strCache>
                <c:ptCount val="4"/>
                <c:pt idx="0">
                  <c:v>Recall (8)</c:v>
                </c:pt>
                <c:pt idx="1">
                  <c:v>Gotcha (5)</c:v>
                </c:pt>
                <c:pt idx="2">
                  <c:v>Analytics (7)</c:v>
                </c:pt>
                <c:pt idx="3">
                  <c:v>Boundary refusals (5)</c:v>
                </c:pt>
              </c:strCache>
            </c:strRef>
          </c:cat>
          <c:val>
            <c:numRef>
              <c:f>Sheet1!$C$2:$C$5</c:f>
              <c:numCache>
                <c:formatCode>General</c:formatCode>
                <c:ptCount val="4"/>
                <c:pt idx="0">
                  <c:v>1.0</c:v>
                </c:pt>
                <c:pt idx="1">
                  <c:v>1.0</c:v>
                </c:pt>
                <c:pt idx="2">
                  <c:v>1.0</c:v>
                </c:pt>
                <c:pt idx="3">
                  <c:v>1.0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9D1DB"/>
            </a:solidFill>
          </a:ln>
        </c:spPr>
        <c:txPr>
          <a:bodyPr/>
          <a:lstStyle/>
          <a:p>
            <a:pPr>
              <a:defRPr sz="850"/>
            </a:pPr>
          </a:p>
        </c:txPr>
        <c:crossAx val="-2113994440"/>
        <c:crosses val="autoZero"/>
        <c:auto val="1"/>
        <c:lblAlgn val="ctr"/>
        <c:lblOffset val="100"/>
        <c:noMultiLvlLbl val="0"/>
      </c:catAx>
      <c:valAx>
        <c:axId val="-2113994440"/>
        <c:scaling>
          <c:max val="1.0"/>
          <c:min val="0.0"/>
        </c:scaling>
        <c:delete val="0"/>
        <c:axPos val="l"/>
        <c:majorGridlines>
          <c:spPr>
            <a:ln>
              <a:solidFill>
                <a:srgbClr val="E3E8EF"/>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legend>
      <c:legendPos val="t"/>
      <c:overlay val="0"/>
      <c:txPr>
        <a:bodyPr/>
        <a:lstStyle/>
        <a:p>
          <a:pPr>
            <a:defRPr sz="9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Plant Brain: a maintenance memory for a factory. When your best technician retires, their knowledge doesn't. Fill in team name, leader and size before submitting.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The problem statement says OT data sits apart from maintenance context. We think the missing context is tribal knowledge. The rupee figure is illustrative. Anjali needs to know, the moment an alarm fires: has this happened before, what fixed it, what didn't, do we have the part, who should go.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Left to right. Structured and unstructured sources land in RAW. CORE computes OEE and health. BRAIN holds the anomalies from plain deterministic SQL and the knowledge cards extracted by Cortex AI_COMPLETE with a JSON schema, cached so each note is processed once. Cortex Search, a Semantic View and a Cortex Agent serve them. Stored procedures draft, approve and close work orders; approval is human only. The orange line is the learning loop.</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The four numbers are measured on our synthetic scenario in a local run without an LLM; say so. The first eval run was 22 of 25: it caught three routing and ranking bugs, which we fixed. The business outcomes are targets, not measurements.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r>
              <a:t>Walk the loop clockwise. Point at step 6: the closing note flows back in as a new card. That's how Ravi's knowledge outlives Ravi's employment.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These are screenshots of the running app. The demo video walks through all five pages in three minutes.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didn't just demo the happy path. Same 25 questions for both systems. Be explicit that this is the offline mock run; re-run on Cortex with run_eval.py --snowflake before final judging if the account is live.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Repo: [repo link]. Everything needed to reproduce is in the repo, including a local mock that runs the same SQL. Snowflake-only objects follow current docs; say honestly which ones have run on a live account.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Framexexexe 232.png"/>
          <p:cNvPicPr preferRelativeResize="0"/>
          <p:nvPr/>
        </p:nvPicPr>
        <p:blipFill rotWithShape="1">
          <a:blip r:embed="rId3">
            <a:alphaModFix/>
          </a:blip>
          <a:srcRect b="0" l="0" r="0" t="0"/>
          <a:stretch/>
        </p:blipFill>
        <p:spPr>
          <a:xfrm>
            <a:off x="-12" y="0"/>
            <a:ext cx="9144018" cy="5143501"/>
          </a:xfrm>
          <a:prstGeom prst="rect">
            <a:avLst/>
          </a:prstGeom>
          <a:noFill/>
          <a:ln>
            <a:noFill/>
          </a:ln>
        </p:spPr>
      </p:pic>
      <p:sp>
        <p:nvSpPr>
          <p:cNvPr id="55" name="Google Shape;55;p13"/>
          <p:cNvSpPr txBox="1"/>
          <p:nvPr/>
        </p:nvSpPr>
        <p:spPr>
          <a:xfrm>
            <a:off x="402808" y="3192600"/>
            <a:ext cx="8412480" cy="372600"/>
          </a:xfrm>
          <a:prstGeom prst="rect">
            <a:avLst/>
          </a:prstGeom>
          <a:noFill/>
          <a:ln>
            <a:noFill/>
          </a:ln>
        </p:spPr>
        <p:txBody>
          <a:bodyPr anchorCtr="0" anchor="t" bIns="76750" lIns="76750" spcFirstLastPara="1" rIns="76750" wrap="square" tIns="76750">
            <a:normAutofit/>
          </a:bodyPr>
          <a:lstStyle/>
          <a:p>
            <a:pPr indent="0" lvl="0" marL="0" marR="0" rtl="0" algn="l">
              <a:lnSpc>
                <a:spcPct val="80000"/>
              </a:lnSpc>
              <a:spcBef>
                <a:spcPts val="0"/>
              </a:spcBef>
              <a:spcAft>
                <a:spcPts val="0"/>
              </a:spcAft>
              <a:buClr>
                <a:srgbClr val="000000"/>
              </a:buClr>
              <a:buSzPts val="1343"/>
              <a:buFont typeface="Arial"/>
              <a:buNone/>
            </a:pPr>
            <a:r>
              <a:rPr b="0" i="0" lang="en-GB" sz="1343" u="none" cap="none" strike="noStrike">
                <a:solidFill>
                  <a:srgbClr val="202729"/>
                </a:solidFill>
                <a:latin typeface="Manrope SemiBold"/>
                <a:ea typeface="Manrope SemiBold"/>
                <a:cs typeface="Manrope SemiBold"/>
                <a:sym typeface="Manrope SemiBold"/>
              </a:rPr>
              <a:t>Team Name :</a:t>
            </a:r>
            <a:endParaRPr b="0" i="0" sz="1343" u="none" cap="none" strike="noStrike">
              <a:solidFill>
                <a:srgbClr val="202729"/>
              </a:solidFill>
              <a:latin typeface="Manrope SemiBold"/>
              <a:ea typeface="Manrope SemiBold"/>
              <a:cs typeface="Manrope SemiBold"/>
              <a:sym typeface="Manrope SemiBold"/>
            </a:endParaRPr>
            <a:r>
              <a:rPr b="0" i="0" lang="en-GB" sz="1343" u="none" cap="none" strike="noStrike">
                <a:solidFill>
                  <a:srgbClr val="0B1320"/>
                </a:solidFill>
                <a:latin typeface="Manrope SemiBold"/>
                <a:ea typeface="Manrope SemiBold"/>
                <a:cs typeface="Manrope SemiBold"/>
                <a:sym typeface="Manrope SemiBold"/>
              </a:rPr>
              <a:t> [Team name]</a:t>
            </a:r>
          </a:p>
        </p:txBody>
      </p:sp>
      <p:sp>
        <p:nvSpPr>
          <p:cNvPr id="56" name="Google Shape;56;p13"/>
          <p:cNvSpPr txBox="1"/>
          <p:nvPr/>
        </p:nvSpPr>
        <p:spPr>
          <a:xfrm>
            <a:off x="402788" y="4250161"/>
            <a:ext cx="8412480" cy="342900"/>
          </a:xfrm>
          <a:prstGeom prst="rect">
            <a:avLst/>
          </a:prstGeom>
          <a:noFill/>
          <a:ln>
            <a:noFill/>
          </a:ln>
        </p:spPr>
        <p:txBody>
          <a:bodyPr anchorCtr="0" anchor="t" bIns="76750" lIns="76750" spcFirstLastPara="1" rIns="76750" wrap="square" tIns="76750">
            <a:normAutofit/>
          </a:bodyPr>
          <a:lstStyle/>
          <a:p>
            <a:pPr indent="0" lvl="0" marL="0" marR="0" rtl="0" algn="l">
              <a:lnSpc>
                <a:spcPct val="70000"/>
              </a:lnSpc>
              <a:spcBef>
                <a:spcPts val="0"/>
              </a:spcBef>
              <a:spcAft>
                <a:spcPts val="0"/>
              </a:spcAft>
              <a:buClr>
                <a:srgbClr val="000000"/>
              </a:buClr>
              <a:buSzPts val="1343"/>
              <a:buFont typeface="Arial"/>
              <a:buNone/>
            </a:pPr>
            <a:r>
              <a:rPr b="0" i="0" lang="en-GB" sz="1343" u="none" cap="none" strike="noStrike">
                <a:solidFill>
                  <a:srgbClr val="202729"/>
                </a:solidFill>
                <a:latin typeface="Manrope SemiBold"/>
                <a:ea typeface="Manrope SemiBold"/>
                <a:cs typeface="Manrope SemiBold"/>
                <a:sym typeface="Manrope SemiBold"/>
              </a:rPr>
              <a:t>Problem Statement :</a:t>
            </a:r>
            <a:endParaRPr b="0" i="0" sz="1343" u="none" cap="none" strike="noStrike">
              <a:solidFill>
                <a:srgbClr val="202729"/>
              </a:solidFill>
              <a:latin typeface="Manrope SemiBold"/>
              <a:ea typeface="Manrope SemiBold"/>
              <a:cs typeface="Manrope SemiBold"/>
              <a:sym typeface="Manrope SemiBold"/>
            </a:endParaRPr>
            <a:r>
              <a:rPr b="0" i="0" lang="en-GB" sz="1343" u="none" cap="none" strike="noStrike">
                <a:solidFill>
                  <a:srgbClr val="0A63C9"/>
                </a:solidFill>
                <a:latin typeface="Manrope SemiBold"/>
                <a:ea typeface="Manrope SemiBold"/>
                <a:cs typeface="Manrope SemiBold"/>
                <a:sym typeface="Manrope SemiBold"/>
              </a:rPr>
              <a:t> Track 3 – Predictive Maintenance &amp; OEE Command Center  ·  Plant Brain</a:t>
            </a:r>
          </a:p>
        </p:txBody>
      </p:sp>
      <p:sp>
        <p:nvSpPr>
          <p:cNvPr id="57" name="Google Shape;57;p13"/>
          <p:cNvSpPr txBox="1"/>
          <p:nvPr/>
        </p:nvSpPr>
        <p:spPr>
          <a:xfrm>
            <a:off x="402798" y="3534656"/>
            <a:ext cx="8412480" cy="372600"/>
          </a:xfrm>
          <a:prstGeom prst="rect">
            <a:avLst/>
          </a:prstGeom>
          <a:noFill/>
          <a:ln>
            <a:noFill/>
          </a:ln>
        </p:spPr>
        <p:txBody>
          <a:bodyPr anchorCtr="0" anchor="t" bIns="76750" lIns="76750" spcFirstLastPara="1" rIns="76750" wrap="square" tIns="76750">
            <a:normAutofit/>
          </a:bodyPr>
          <a:lstStyle/>
          <a:p>
            <a:pPr indent="0" lvl="0" marL="0" marR="0" rtl="0" algn="l">
              <a:lnSpc>
                <a:spcPct val="80000"/>
              </a:lnSpc>
              <a:spcBef>
                <a:spcPts val="0"/>
              </a:spcBef>
              <a:spcAft>
                <a:spcPts val="0"/>
              </a:spcAft>
              <a:buClr>
                <a:srgbClr val="000000"/>
              </a:buClr>
              <a:buSzPts val="1343"/>
              <a:buFont typeface="Arial"/>
              <a:buNone/>
            </a:pPr>
            <a:r>
              <a:rPr b="0" i="0" lang="en-GB" sz="1343" u="none" cap="none" strike="noStrike">
                <a:solidFill>
                  <a:srgbClr val="202729"/>
                </a:solidFill>
                <a:latin typeface="Manrope SemiBold"/>
                <a:ea typeface="Manrope SemiBold"/>
                <a:cs typeface="Manrope SemiBold"/>
                <a:sym typeface="Manrope SemiBold"/>
              </a:rPr>
              <a:t>Team Leader Name :</a:t>
            </a:r>
            <a:endParaRPr b="0" i="0" sz="1343" u="none" cap="none" strike="noStrike">
              <a:solidFill>
                <a:srgbClr val="202729"/>
              </a:solidFill>
              <a:latin typeface="Manrope SemiBold"/>
              <a:ea typeface="Manrope SemiBold"/>
              <a:cs typeface="Manrope SemiBold"/>
              <a:sym typeface="Manrope SemiBold"/>
            </a:endParaRPr>
            <a:r>
              <a:rPr b="0" i="0" lang="en-GB" sz="1343" u="none" cap="none" strike="noStrike">
                <a:solidFill>
                  <a:srgbClr val="0B1320"/>
                </a:solidFill>
                <a:latin typeface="Manrope SemiBold"/>
                <a:ea typeface="Manrope SemiBold"/>
                <a:cs typeface="Manrope SemiBold"/>
                <a:sym typeface="Manrope SemiBold"/>
              </a:rPr>
              <a:t> [Team leader name]</a:t>
            </a:r>
          </a:p>
        </p:txBody>
      </p:sp>
      <p:sp>
        <p:nvSpPr>
          <p:cNvPr id="58" name="Google Shape;58;p13"/>
          <p:cNvSpPr txBox="1"/>
          <p:nvPr/>
        </p:nvSpPr>
        <p:spPr>
          <a:xfrm>
            <a:off x="402788" y="3907261"/>
            <a:ext cx="8412480" cy="342900"/>
          </a:xfrm>
          <a:prstGeom prst="rect">
            <a:avLst/>
          </a:prstGeom>
          <a:noFill/>
          <a:ln>
            <a:noFill/>
          </a:ln>
        </p:spPr>
        <p:txBody>
          <a:bodyPr anchorCtr="0" anchor="t" bIns="76750" lIns="76750" spcFirstLastPara="1" rIns="76750" wrap="square" tIns="76750">
            <a:normAutofit/>
          </a:bodyPr>
          <a:lstStyle/>
          <a:p>
            <a:pPr indent="0" lvl="0" marL="0" marR="0" rtl="0" algn="l">
              <a:lnSpc>
                <a:spcPct val="70000"/>
              </a:lnSpc>
              <a:spcBef>
                <a:spcPts val="0"/>
              </a:spcBef>
              <a:spcAft>
                <a:spcPts val="0"/>
              </a:spcAft>
              <a:buClr>
                <a:srgbClr val="000000"/>
              </a:buClr>
              <a:buSzPts val="1343"/>
              <a:buFont typeface="Arial"/>
              <a:buNone/>
            </a:pPr>
            <a:r>
              <a:rPr b="0" i="0" lang="en-GB" sz="1343" u="none" cap="none" strike="noStrike">
                <a:solidFill>
                  <a:srgbClr val="202729"/>
                </a:solidFill>
                <a:latin typeface="Manrope SemiBold"/>
                <a:ea typeface="Manrope SemiBold"/>
                <a:cs typeface="Manrope SemiBold"/>
                <a:sym typeface="Manrope SemiBold"/>
              </a:rPr>
              <a:t>Team Size :</a:t>
            </a:r>
            <a:endParaRPr b="0" i="0" sz="1343" u="none" cap="none" strike="noStrike">
              <a:solidFill>
                <a:srgbClr val="202729"/>
              </a:solidFill>
              <a:latin typeface="Manrope SemiBold"/>
              <a:ea typeface="Manrope SemiBold"/>
              <a:cs typeface="Manrope SemiBold"/>
              <a:sym typeface="Manrope SemiBold"/>
            </a:endParaRPr>
            <a:r>
              <a:rPr b="0" i="0" lang="en-GB" sz="1343" u="none" cap="none" strike="noStrike">
                <a:solidFill>
                  <a:srgbClr val="0B1320"/>
                </a:solidFill>
                <a:latin typeface="Manrope SemiBold"/>
                <a:ea typeface="Manrope SemiBold"/>
                <a:cs typeface="Manrope SemiBold"/>
                <a:sym typeface="Manrope SemiBold"/>
              </a:rPr>
              <a:t> [Team size]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4" title="Framewsxexexe 233.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64" name="Title"/>
          <p:cNvSpPr txBox="1"/>
          <p:nvPr/>
        </p:nvSpPr>
        <p:spPr>
          <a:xfrm>
            <a:off x="329184" y="566928"/>
            <a:ext cx="8503920" cy="384048"/>
          </a:xfrm>
          <a:prstGeom prst="rect">
            <a:avLst/>
          </a:prstGeom>
          <a:noFill/>
        </p:spPr>
        <p:txBody>
          <a:bodyPr wrap="square" lIns="36576" rIns="36576" tIns="18288" bIns="18288" anchor="t">
            <a:spAutoFit/>
          </a:bodyPr>
          <a:lstStyle/>
          <a:p>
            <a:pPr algn="l">
              <a:spcAft>
                <a:spcPts val="200"/>
              </a:spcAft>
            </a:pPr>
            <a:r>
              <a:rPr sz="2000" b="1" i="0">
                <a:solidFill>
                  <a:srgbClr val="0B1320"/>
                </a:solidFill>
                <a:latin typeface="Manrope"/>
              </a:rPr>
              <a:t>1. Problem Brief</a:t>
            </a:r>
          </a:p>
        </p:txBody>
      </p:sp>
      <p:sp>
        <p:nvSpPr>
          <p:cNvPr id="65" name="Subtitle"/>
          <p:cNvSpPr txBox="1"/>
          <p:nvPr/>
        </p:nvSpPr>
        <p:spPr>
          <a:xfrm>
            <a:off x="329184" y="914400"/>
            <a:ext cx="8503920" cy="274320"/>
          </a:xfrm>
          <a:prstGeom prst="rect">
            <a:avLst/>
          </a:prstGeom>
          <a:noFill/>
        </p:spPr>
        <p:txBody>
          <a:bodyPr wrap="square" lIns="36576" rIns="36576" tIns="18288" bIns="18288" anchor="t">
            <a:spAutoFit/>
          </a:bodyPr>
          <a:lstStyle/>
          <a:p>
            <a:pPr algn="l">
              <a:spcAft>
                <a:spcPts val="200"/>
              </a:spcAft>
            </a:pPr>
            <a:r>
              <a:rPr sz="1050" b="0" i="0">
                <a:solidFill>
                  <a:srgbClr val="3F4A5A"/>
                </a:solidFill>
                <a:latin typeface="Arial"/>
              </a:rPr>
              <a:t>Sensor data can tell you that a machine is drifting. It can't tell you what fixed it last time.</a:t>
            </a:r>
          </a:p>
        </p:txBody>
      </p:sp>
      <p:sp>
        <p:nvSpPr>
          <p:cNvPr id="66" name="Card Business problem"/>
          <p:cNvSpPr/>
          <p:nvPr/>
        </p:nvSpPr>
        <p:spPr>
          <a:xfrm>
            <a:off x="329184" y="1298448"/>
            <a:ext cx="5074920" cy="786384"/>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438912" y="1353312"/>
            <a:ext cx="4846320" cy="694944"/>
          </a:xfrm>
          <a:prstGeom prst="rect">
            <a:avLst/>
          </a:prstGeom>
          <a:noFill/>
        </p:spPr>
        <p:txBody>
          <a:bodyPr wrap="square" lIns="36576" rIns="36576" tIns="18288" bIns="18288" anchor="t">
            <a:spAutoFit/>
          </a:bodyPr>
          <a:lstStyle/>
          <a:p>
            <a:pPr algn="l">
              <a:spcAft>
                <a:spcPts val="100"/>
              </a:spcAft>
            </a:pPr>
            <a:r>
              <a:rPr sz="1100" b="1" i="0">
                <a:solidFill>
                  <a:srgbClr val="0A63C9"/>
                </a:solidFill>
                <a:latin typeface="Arial"/>
              </a:rPr>
              <a:t>Business problem</a:t>
            </a:r>
          </a:p>
          <a:p>
            <a:pPr algn="l">
              <a:spcAft>
                <a:spcPts val="100"/>
              </a:spcAft>
            </a:pPr>
            <a:r>
              <a:rPr sz="950" b="0" i="0">
                <a:solidFill>
                  <a:srgbClr val="0B1320"/>
                </a:solidFill>
                <a:latin typeface="Arial"/>
              </a:rPr>
              <a:t>Unplanned downtime, and repeat failures where the right fix was already known, but only in a senior technician's head or a scribbled shift note. Illustrative: ~₹1 crore/year lost output for a 12-asset plant.</a:t>
            </a:r>
          </a:p>
        </p:txBody>
      </p:sp>
      <p:sp>
        <p:nvSpPr>
          <p:cNvPr id="68" name="Card Target user"/>
          <p:cNvSpPr/>
          <p:nvPr/>
        </p:nvSpPr>
        <p:spPr>
          <a:xfrm>
            <a:off x="329184" y="2176272"/>
            <a:ext cx="5074920" cy="64008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438912" y="2231136"/>
            <a:ext cx="4846320" cy="548640"/>
          </a:xfrm>
          <a:prstGeom prst="rect">
            <a:avLst/>
          </a:prstGeom>
          <a:noFill/>
        </p:spPr>
        <p:txBody>
          <a:bodyPr wrap="square" lIns="36576" rIns="36576" tIns="18288" bIns="18288" anchor="t">
            <a:spAutoFit/>
          </a:bodyPr>
          <a:lstStyle/>
          <a:p>
            <a:pPr algn="l">
              <a:spcAft>
                <a:spcPts val="100"/>
              </a:spcAft>
            </a:pPr>
            <a:r>
              <a:rPr sz="1100" b="1" i="0">
                <a:solidFill>
                  <a:srgbClr val="0A63C9"/>
                </a:solidFill>
                <a:latin typeface="Arial"/>
              </a:rPr>
              <a:t>Target user</a:t>
            </a:r>
          </a:p>
          <a:p>
            <a:pPr algn="l">
              <a:spcAft>
                <a:spcPts val="100"/>
              </a:spcAft>
            </a:pPr>
            <a:r>
              <a:rPr sz="950" b="0" i="0">
                <a:solidFill>
                  <a:srgbClr val="0B1320"/>
                </a:solidFill>
                <a:latin typeface="Arial"/>
              </a:rPr>
              <a:t>Maintenance planners and technicians in discrete manufacturing. Persona: Anjali, maintenance planner (fictional plant, synthetic data).</a:t>
            </a:r>
          </a:p>
        </p:txBody>
      </p:sp>
      <p:sp>
        <p:nvSpPr>
          <p:cNvPr id="70" name="Card Pain point → improvement"/>
          <p:cNvSpPr/>
          <p:nvPr/>
        </p:nvSpPr>
        <p:spPr>
          <a:xfrm>
            <a:off x="329184" y="2907791"/>
            <a:ext cx="5074920" cy="969264"/>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438912" y="2962656"/>
            <a:ext cx="4846320" cy="877824"/>
          </a:xfrm>
          <a:prstGeom prst="rect">
            <a:avLst/>
          </a:prstGeom>
          <a:noFill/>
        </p:spPr>
        <p:txBody>
          <a:bodyPr wrap="square" lIns="36576" rIns="36576" tIns="18288" bIns="18288" anchor="t">
            <a:spAutoFit/>
          </a:bodyPr>
          <a:lstStyle/>
          <a:p>
            <a:pPr algn="l">
              <a:spcAft>
                <a:spcPts val="100"/>
              </a:spcAft>
            </a:pPr>
            <a:r>
              <a:rPr sz="1100" b="1" i="0">
                <a:solidFill>
                  <a:srgbClr val="0A63C9"/>
                </a:solidFill>
                <a:latin typeface="Arial"/>
              </a:rPr>
              <a:t>Pain point → improvement</a:t>
            </a:r>
          </a:p>
          <a:p>
            <a:pPr algn="l">
              <a:spcAft>
                <a:spcPts val="100"/>
              </a:spcAft>
            </a:pPr>
            <a:r>
              <a:rPr sz="950" b="0" i="0">
                <a:solidFill>
                  <a:srgbClr val="0B1320"/>
                </a:solidFill>
                <a:latin typeface="Arial"/>
              </a:rPr>
              <a:t>Today: alarms, phone calls, digging through old work orders; a bearing-only fix recurred in 9 days. With Plant Brain: the anomaly arrives with the cited known fix, the "don't do this" warning, parts risk and the right technician. A human approves, and the closing note becomes new knowledge.</a:t>
            </a:r>
          </a:p>
        </p:txBody>
      </p:sp>
      <p:sp>
        <p:nvSpPr>
          <p:cNvPr id="72" name="Card Industry / domain context"/>
          <p:cNvSpPr/>
          <p:nvPr/>
        </p:nvSpPr>
        <p:spPr>
          <a:xfrm>
            <a:off x="329184" y="3968496"/>
            <a:ext cx="5074920" cy="786384"/>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438912" y="4023359"/>
            <a:ext cx="4846320" cy="694944"/>
          </a:xfrm>
          <a:prstGeom prst="rect">
            <a:avLst/>
          </a:prstGeom>
          <a:noFill/>
        </p:spPr>
        <p:txBody>
          <a:bodyPr wrap="square" lIns="36576" rIns="36576" tIns="18288" bIns="18288" anchor="t">
            <a:spAutoFit/>
          </a:bodyPr>
          <a:lstStyle/>
          <a:p>
            <a:pPr algn="l">
              <a:spcAft>
                <a:spcPts val="100"/>
              </a:spcAft>
            </a:pPr>
            <a:r>
              <a:rPr sz="1100" b="1" i="0">
                <a:solidFill>
                  <a:srgbClr val="0A63C9"/>
                </a:solidFill>
                <a:latin typeface="Arial"/>
              </a:rPr>
              <a:t>Industry / domain context</a:t>
            </a:r>
          </a:p>
          <a:p>
            <a:pPr algn="l">
              <a:spcAft>
                <a:spcPts val="100"/>
              </a:spcAft>
            </a:pPr>
            <a:r>
              <a:rPr sz="950" b="0" i="0">
                <a:solidFill>
                  <a:srgbClr val="0B1320"/>
                </a:solidFill>
                <a:latin typeface="Arial"/>
              </a:rPr>
              <a:t>Manufacturing OEE and predictive maintenance. OT sensor data sits apart from maintenance context, and an ageing workforce is retiring across GCC and Indian plants.</a:t>
            </a:r>
          </a:p>
        </p:txBody>
      </p:sp>
      <p:sp>
        <p:nvSpPr>
          <p:cNvPr id="74" name="Persona panel"/>
          <p:cNvSpPr/>
          <p:nvPr/>
        </p:nvSpPr>
        <p:spPr>
          <a:xfrm>
            <a:off x="5623560" y="1298448"/>
            <a:ext cx="3191256" cy="3364992"/>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5760720" y="1389888"/>
            <a:ext cx="2926080" cy="566928"/>
          </a:xfrm>
          <a:prstGeom prst="rect">
            <a:avLst/>
          </a:prstGeom>
          <a:noFill/>
        </p:spPr>
        <p:txBody>
          <a:bodyPr wrap="square" lIns="36576" rIns="36576" tIns="18288" bIns="18288" anchor="t">
            <a:spAutoFit/>
          </a:bodyPr>
          <a:lstStyle/>
          <a:p>
            <a:pPr algn="l">
              <a:spcAft>
                <a:spcPts val="200"/>
              </a:spcAft>
            </a:pPr>
            <a:r>
              <a:rPr sz="1500" b="1" i="0">
                <a:solidFill>
                  <a:srgbClr val="FFFFFF"/>
                </a:solidFill>
                <a:latin typeface="Manrope"/>
              </a:rPr>
              <a:t>Anjali</a:t>
            </a:r>
          </a:p>
          <a:p>
            <a:pPr algn="l">
              <a:spcAft>
                <a:spcPts val="200"/>
              </a:spcAft>
            </a:pPr>
            <a:r>
              <a:rPr sz="850" b="0" i="0">
                <a:solidFill>
                  <a:srgbClr val="B8C9DE"/>
                </a:solidFill>
                <a:latin typeface="Arial"/>
              </a:rPr>
              <a:t>Maintenance planner, Deccan Precision Components, Pune (fictional)</a:t>
            </a:r>
          </a:p>
        </p:txBody>
      </p:sp>
      <p:sp>
        <p:nvSpPr>
          <p:cNvPr id="76" name="Stat production lines"/>
          <p:cNvSpPr/>
          <p:nvPr/>
        </p:nvSpPr>
        <p:spPr>
          <a:xfrm>
            <a:off x="5760720" y="2084831"/>
            <a:ext cx="1371600" cy="786384"/>
          </a:xfrm>
          <a:prstGeom prst="roundRect">
            <a:avLst>
              <a:gd name="adj" fmla="val 8000"/>
            </a:avLst>
          </a:prstGeom>
          <a:solidFill>
            <a:srgbClr val="16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5833872" y="2121408"/>
            <a:ext cx="1243584" cy="731520"/>
          </a:xfrm>
          <a:prstGeom prst="rect">
            <a:avLst/>
          </a:prstGeom>
          <a:noFill/>
        </p:spPr>
        <p:txBody>
          <a:bodyPr wrap="square" lIns="36576" rIns="36576" tIns="18288" bIns="18288" anchor="t">
            <a:spAutoFit/>
          </a:bodyPr>
          <a:lstStyle/>
          <a:p>
            <a:pPr algn="l">
              <a:spcAft>
                <a:spcPts val="0"/>
              </a:spcAft>
            </a:pPr>
            <a:r>
              <a:rPr sz="2200" b="1" i="0">
                <a:solidFill>
                  <a:srgbClr val="FFFFFF"/>
                </a:solidFill>
                <a:latin typeface="Manrope"/>
              </a:rPr>
              <a:t>3</a:t>
            </a:r>
          </a:p>
          <a:p>
            <a:pPr algn="l">
              <a:spcAft>
                <a:spcPts val="0"/>
              </a:spcAft>
            </a:pPr>
            <a:r>
              <a:rPr sz="850" b="0" i="0">
                <a:solidFill>
                  <a:srgbClr val="D5E1EF"/>
                </a:solidFill>
                <a:latin typeface="Arial"/>
              </a:rPr>
              <a:t>production lines</a:t>
            </a:r>
          </a:p>
        </p:txBody>
      </p:sp>
      <p:sp>
        <p:nvSpPr>
          <p:cNvPr id="78" name="Stat critical assets"/>
          <p:cNvSpPr/>
          <p:nvPr/>
        </p:nvSpPr>
        <p:spPr>
          <a:xfrm>
            <a:off x="7242048" y="2084831"/>
            <a:ext cx="1371600" cy="786384"/>
          </a:xfrm>
          <a:prstGeom prst="roundRect">
            <a:avLst>
              <a:gd name="adj" fmla="val 8000"/>
            </a:avLst>
          </a:prstGeom>
          <a:solidFill>
            <a:srgbClr val="16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7315200" y="2121408"/>
            <a:ext cx="1243584" cy="731520"/>
          </a:xfrm>
          <a:prstGeom prst="rect">
            <a:avLst/>
          </a:prstGeom>
          <a:noFill/>
        </p:spPr>
        <p:txBody>
          <a:bodyPr wrap="square" lIns="36576" rIns="36576" tIns="18288" bIns="18288" anchor="t">
            <a:spAutoFit/>
          </a:bodyPr>
          <a:lstStyle/>
          <a:p>
            <a:pPr algn="l">
              <a:spcAft>
                <a:spcPts val="0"/>
              </a:spcAft>
            </a:pPr>
            <a:r>
              <a:rPr sz="2200" b="1" i="0">
                <a:solidFill>
                  <a:srgbClr val="FFFFFF"/>
                </a:solidFill>
                <a:latin typeface="Manrope"/>
              </a:rPr>
              <a:t>12</a:t>
            </a:r>
          </a:p>
          <a:p>
            <a:pPr algn="l">
              <a:spcAft>
                <a:spcPts val="0"/>
              </a:spcAft>
            </a:pPr>
            <a:r>
              <a:rPr sz="850" b="0" i="0">
                <a:solidFill>
                  <a:srgbClr val="D5E1EF"/>
                </a:solidFill>
                <a:latin typeface="Arial"/>
              </a:rPr>
              <a:t>critical assets</a:t>
            </a:r>
          </a:p>
        </p:txBody>
      </p:sp>
      <p:sp>
        <p:nvSpPr>
          <p:cNvPr id="80" name="Stat technicians"/>
          <p:cNvSpPr/>
          <p:nvPr/>
        </p:nvSpPr>
        <p:spPr>
          <a:xfrm>
            <a:off x="5760720" y="2980944"/>
            <a:ext cx="1371600" cy="786384"/>
          </a:xfrm>
          <a:prstGeom prst="roundRect">
            <a:avLst>
              <a:gd name="adj" fmla="val 8000"/>
            </a:avLst>
          </a:prstGeom>
          <a:solidFill>
            <a:srgbClr val="16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5833872" y="3017520"/>
            <a:ext cx="1243584" cy="731520"/>
          </a:xfrm>
          <a:prstGeom prst="rect">
            <a:avLst/>
          </a:prstGeom>
          <a:noFill/>
        </p:spPr>
        <p:txBody>
          <a:bodyPr wrap="square" lIns="36576" rIns="36576" tIns="18288" bIns="18288" anchor="t">
            <a:spAutoFit/>
          </a:bodyPr>
          <a:lstStyle/>
          <a:p>
            <a:pPr algn="l">
              <a:spcAft>
                <a:spcPts val="0"/>
              </a:spcAft>
            </a:pPr>
            <a:r>
              <a:rPr sz="2200" b="1" i="0">
                <a:solidFill>
                  <a:srgbClr val="FFFFFF"/>
                </a:solidFill>
                <a:latin typeface="Manrope"/>
              </a:rPr>
              <a:t>8</a:t>
            </a:r>
          </a:p>
          <a:p>
            <a:pPr algn="l">
              <a:spcAft>
                <a:spcPts val="0"/>
              </a:spcAft>
            </a:pPr>
            <a:r>
              <a:rPr sz="850" b="0" i="0">
                <a:solidFill>
                  <a:srgbClr val="D5E1EF"/>
                </a:solidFill>
                <a:latin typeface="Arial"/>
              </a:rPr>
              <a:t>technicians</a:t>
            </a:r>
          </a:p>
        </p:txBody>
      </p:sp>
      <p:sp>
        <p:nvSpPr>
          <p:cNvPr id="82" name="Stat retire in 2027"/>
          <p:cNvSpPr/>
          <p:nvPr/>
        </p:nvSpPr>
        <p:spPr>
          <a:xfrm>
            <a:off x="7242048" y="2980944"/>
            <a:ext cx="1371600" cy="786384"/>
          </a:xfrm>
          <a:prstGeom prst="roundRect">
            <a:avLst>
              <a:gd name="adj" fmla="val 8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7315200" y="3017520"/>
            <a:ext cx="1243584" cy="731520"/>
          </a:xfrm>
          <a:prstGeom prst="rect">
            <a:avLst/>
          </a:prstGeom>
          <a:noFill/>
        </p:spPr>
        <p:txBody>
          <a:bodyPr wrap="square" lIns="36576" rIns="36576" tIns="18288" bIns="18288" anchor="t">
            <a:spAutoFit/>
          </a:bodyPr>
          <a:lstStyle/>
          <a:p>
            <a:pPr algn="l">
              <a:spcAft>
                <a:spcPts val="0"/>
              </a:spcAft>
            </a:pPr>
            <a:r>
              <a:rPr sz="2200" b="1" i="0">
                <a:solidFill>
                  <a:srgbClr val="0B1F3A"/>
                </a:solidFill>
                <a:latin typeface="Manrope"/>
              </a:rPr>
              <a:t>2</a:t>
            </a:r>
          </a:p>
          <a:p>
            <a:pPr algn="l">
              <a:spcAft>
                <a:spcPts val="0"/>
              </a:spcAft>
            </a:pPr>
            <a:r>
              <a:rPr sz="850" b="0" i="0">
                <a:solidFill>
                  <a:srgbClr val="0B1F3A"/>
                </a:solidFill>
                <a:latin typeface="Arial"/>
              </a:rPr>
              <a:t>retire in 2027</a:t>
            </a:r>
          </a:p>
        </p:txBody>
      </p:sp>
      <p:sp>
        <p:nvSpPr>
          <p:cNvPr id="84" name="Persona line"/>
          <p:cNvSpPr txBox="1"/>
          <p:nvPr/>
        </p:nvSpPr>
        <p:spPr>
          <a:xfrm>
            <a:off x="5760720" y="3931920"/>
            <a:ext cx="2971800" cy="658368"/>
          </a:xfrm>
          <a:prstGeom prst="rect">
            <a:avLst/>
          </a:prstGeom>
          <a:noFill/>
        </p:spPr>
        <p:txBody>
          <a:bodyPr wrap="square" lIns="36576" rIns="36576" tIns="18288" bIns="18288" anchor="t">
            <a:spAutoFit/>
          </a:bodyPr>
          <a:lstStyle/>
          <a:p>
            <a:pPr algn="l">
              <a:spcAft>
                <a:spcPts val="200"/>
              </a:spcAft>
            </a:pPr>
            <a:r>
              <a:rPr sz="1000" b="0" i="1">
                <a:solidFill>
                  <a:srgbClr val="FFFFFF"/>
                </a:solidFill>
                <a:latin typeface="Arial"/>
              </a:rPr>
              <a:t>“When Press P3 acts up, everyone calls Ravi. Ravi retires next year.”</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Framewsxexexe 233.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70" name="Title"/>
          <p:cNvSpPr txBox="1"/>
          <p:nvPr/>
        </p:nvSpPr>
        <p:spPr>
          <a:xfrm>
            <a:off x="329184" y="566928"/>
            <a:ext cx="8503920" cy="384048"/>
          </a:xfrm>
          <a:prstGeom prst="rect">
            <a:avLst/>
          </a:prstGeom>
          <a:noFill/>
        </p:spPr>
        <p:txBody>
          <a:bodyPr wrap="square" lIns="36576" rIns="36576" tIns="18288" bIns="18288" anchor="t">
            <a:spAutoFit/>
          </a:bodyPr>
          <a:lstStyle/>
          <a:p>
            <a:pPr algn="l">
              <a:spcAft>
                <a:spcPts val="200"/>
              </a:spcAft>
            </a:pPr>
            <a:r>
              <a:rPr sz="2000" b="1" i="0">
                <a:solidFill>
                  <a:srgbClr val="0B1320"/>
                </a:solidFill>
                <a:latin typeface="Manrope"/>
              </a:rPr>
              <a:t>2. Architecture Diagram</a:t>
            </a:r>
          </a:p>
        </p:txBody>
      </p:sp>
      <p:sp>
        <p:nvSpPr>
          <p:cNvPr id="71" name="Subtitle"/>
          <p:cNvSpPr txBox="1"/>
          <p:nvPr/>
        </p:nvSpPr>
        <p:spPr>
          <a:xfrm>
            <a:off x="329184" y="914400"/>
            <a:ext cx="8503920" cy="274320"/>
          </a:xfrm>
          <a:prstGeom prst="rect">
            <a:avLst/>
          </a:prstGeom>
          <a:noFill/>
        </p:spPr>
        <p:txBody>
          <a:bodyPr wrap="square" lIns="36576" rIns="36576" tIns="18288" bIns="18288" anchor="t">
            <a:spAutoFit/>
          </a:bodyPr>
          <a:lstStyle/>
          <a:p>
            <a:pPr algn="l">
              <a:spcAft>
                <a:spcPts val="200"/>
              </a:spcAft>
            </a:pPr>
            <a:r>
              <a:rPr sz="1050" b="0" i="0">
                <a:solidFill>
                  <a:srgbClr val="3F4A5A"/>
                </a:solidFill>
                <a:latin typeface="Arial"/>
              </a:rPr>
              <a:t>All Snowflake. Structured + unstructured sources → Brain → Cortex services → human-approved actions.</a:t>
            </a:r>
          </a:p>
        </p:txBody>
      </p:sp>
      <p:sp>
        <p:nvSpPr>
          <p:cNvPr id="72" name="TextBox 71"/>
          <p:cNvSpPr txBox="1"/>
          <p:nvPr/>
        </p:nvSpPr>
        <p:spPr>
          <a:xfrm>
            <a:off x="329184" y="1188720"/>
            <a:ext cx="1371600" cy="201168"/>
          </a:xfrm>
          <a:prstGeom prst="rect">
            <a:avLst/>
          </a:prstGeom>
          <a:noFill/>
        </p:spPr>
        <p:txBody>
          <a:bodyPr wrap="square" lIns="36576" rIns="36576" tIns="18288" bIns="18288" anchor="t">
            <a:spAutoFit/>
          </a:bodyPr>
          <a:lstStyle/>
          <a:p>
            <a:pPr algn="l">
              <a:spcAft>
                <a:spcPts val="200"/>
              </a:spcAft>
            </a:pPr>
            <a:r>
              <a:rPr sz="800" b="1" i="0">
                <a:solidFill>
                  <a:srgbClr val="1497D4"/>
                </a:solidFill>
                <a:latin typeface="Arial"/>
              </a:rPr>
              <a:t>DATA SOURCES</a:t>
            </a:r>
          </a:p>
        </p:txBody>
      </p:sp>
      <p:sp>
        <p:nvSpPr>
          <p:cNvPr id="73" name="TextBox 72"/>
          <p:cNvSpPr txBox="1"/>
          <p:nvPr/>
        </p:nvSpPr>
        <p:spPr>
          <a:xfrm>
            <a:off x="1901952" y="1188720"/>
            <a:ext cx="868680" cy="201168"/>
          </a:xfrm>
          <a:prstGeom prst="rect">
            <a:avLst/>
          </a:prstGeom>
          <a:noFill/>
        </p:spPr>
        <p:txBody>
          <a:bodyPr wrap="square" lIns="36576" rIns="36576" tIns="18288" bIns="18288" anchor="t">
            <a:spAutoFit/>
          </a:bodyPr>
          <a:lstStyle/>
          <a:p>
            <a:pPr algn="l">
              <a:spcAft>
                <a:spcPts val="200"/>
              </a:spcAft>
            </a:pPr>
            <a:r>
              <a:rPr sz="800" b="1" i="0">
                <a:solidFill>
                  <a:srgbClr val="1497D4"/>
                </a:solidFill>
                <a:latin typeface="Arial"/>
              </a:rPr>
              <a:t>LAND</a:t>
            </a:r>
          </a:p>
        </p:txBody>
      </p:sp>
      <p:sp>
        <p:nvSpPr>
          <p:cNvPr id="74" name="TextBox 73"/>
          <p:cNvSpPr txBox="1"/>
          <p:nvPr/>
        </p:nvSpPr>
        <p:spPr>
          <a:xfrm>
            <a:off x="2971800" y="1188720"/>
            <a:ext cx="1691640" cy="201168"/>
          </a:xfrm>
          <a:prstGeom prst="rect">
            <a:avLst/>
          </a:prstGeom>
          <a:noFill/>
        </p:spPr>
        <p:txBody>
          <a:bodyPr wrap="square" lIns="36576" rIns="36576" tIns="18288" bIns="18288" anchor="t">
            <a:spAutoFit/>
          </a:bodyPr>
          <a:lstStyle/>
          <a:p>
            <a:pPr algn="l">
              <a:spcAft>
                <a:spcPts val="200"/>
              </a:spcAft>
            </a:pPr>
            <a:r>
              <a:rPr sz="800" b="1" i="0">
                <a:solidFill>
                  <a:srgbClr val="1497D4"/>
                </a:solidFill>
                <a:latin typeface="Arial"/>
              </a:rPr>
              <a:t>PROCESS</a:t>
            </a:r>
          </a:p>
        </p:txBody>
      </p:sp>
      <p:sp>
        <p:nvSpPr>
          <p:cNvPr id="75" name="TextBox 74"/>
          <p:cNvSpPr txBox="1"/>
          <p:nvPr/>
        </p:nvSpPr>
        <p:spPr>
          <a:xfrm>
            <a:off x="4910328" y="1188720"/>
            <a:ext cx="1627632" cy="201168"/>
          </a:xfrm>
          <a:prstGeom prst="rect">
            <a:avLst/>
          </a:prstGeom>
          <a:noFill/>
        </p:spPr>
        <p:txBody>
          <a:bodyPr wrap="square" lIns="36576" rIns="36576" tIns="18288" bIns="18288" anchor="t">
            <a:spAutoFit/>
          </a:bodyPr>
          <a:lstStyle/>
          <a:p>
            <a:pPr algn="l">
              <a:spcAft>
                <a:spcPts val="200"/>
              </a:spcAft>
            </a:pPr>
            <a:r>
              <a:rPr sz="800" b="1" i="0">
                <a:solidFill>
                  <a:srgbClr val="1497D4"/>
                </a:solidFill>
                <a:latin typeface="Arial"/>
              </a:rPr>
              <a:t>SERVE (CORTEX)</a:t>
            </a:r>
          </a:p>
        </p:txBody>
      </p:sp>
      <p:sp>
        <p:nvSpPr>
          <p:cNvPr id="76" name="TextBox 75"/>
          <p:cNvSpPr txBox="1"/>
          <p:nvPr/>
        </p:nvSpPr>
        <p:spPr>
          <a:xfrm>
            <a:off x="6784848" y="1188720"/>
            <a:ext cx="2029968" cy="201168"/>
          </a:xfrm>
          <a:prstGeom prst="rect">
            <a:avLst/>
          </a:prstGeom>
          <a:noFill/>
        </p:spPr>
        <p:txBody>
          <a:bodyPr wrap="square" lIns="36576" rIns="36576" tIns="18288" bIns="18288" anchor="t">
            <a:spAutoFit/>
          </a:bodyPr>
          <a:lstStyle/>
          <a:p>
            <a:pPr algn="l">
              <a:spcAft>
                <a:spcPts val="200"/>
              </a:spcAft>
            </a:pPr>
            <a:r>
              <a:rPr sz="800" b="1" i="0">
                <a:solidFill>
                  <a:srgbClr val="1497D4"/>
                </a:solidFill>
                <a:latin typeface="Arial"/>
              </a:rPr>
              <a:t>ACT + UI</a:t>
            </a:r>
          </a:p>
        </p:txBody>
      </p:sp>
      <p:sp>
        <p:nvSpPr>
          <p:cNvPr id="77" name="Source Sensors"/>
          <p:cNvSpPr/>
          <p:nvPr/>
        </p:nvSpPr>
        <p:spPr>
          <a:xfrm>
            <a:off x="329184" y="1417320"/>
            <a:ext cx="1371600" cy="438912"/>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384048" y="1435608"/>
            <a:ext cx="1280160" cy="411480"/>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Sensors</a:t>
            </a:r>
          </a:p>
          <a:p>
            <a:pPr algn="l">
              <a:spcAft>
                <a:spcPts val="0"/>
              </a:spcAft>
            </a:pPr>
            <a:r>
              <a:rPr sz="700" b="0" i="0">
                <a:solidFill>
                  <a:srgbClr val="5A6470"/>
                </a:solidFill>
                <a:latin typeface="Arial"/>
              </a:rPr>
              <a:t>311k readings · structured</a:t>
            </a:r>
          </a:p>
        </p:txBody>
      </p:sp>
      <p:cxnSp>
        <p:nvCxnSpPr>
          <p:cNvPr id="79" name="Connector 78"/>
          <p:cNvCxnSpPr/>
          <p:nvPr/>
        </p:nvCxnSpPr>
        <p:spPr>
          <a:xfrm>
            <a:off x="1700784" y="1636776"/>
            <a:ext cx="201168" cy="0"/>
          </a:xfrm>
          <a:prstGeom prst="line">
            <a:avLst/>
          </a:prstGeom>
          <a:ln w="12700">
            <a:solidFill>
              <a:srgbClr val="C9D6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Source Production log"/>
          <p:cNvSpPr/>
          <p:nvPr/>
        </p:nvSpPr>
        <p:spPr>
          <a:xfrm>
            <a:off x="329184" y="1929384"/>
            <a:ext cx="1371600" cy="438912"/>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384048" y="1947672"/>
            <a:ext cx="1280160" cy="411480"/>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Production log</a:t>
            </a:r>
          </a:p>
          <a:p>
            <a:pPr algn="l">
              <a:spcAft>
                <a:spcPts val="0"/>
              </a:spcAft>
            </a:pPr>
            <a:r>
              <a:rPr sz="700" b="0" i="0">
                <a:solidFill>
                  <a:srgbClr val="5A6470"/>
                </a:solidFill>
                <a:latin typeface="Arial"/>
              </a:rPr>
              <a:t>OEE inputs · structured</a:t>
            </a:r>
          </a:p>
        </p:txBody>
      </p:sp>
      <p:cxnSp>
        <p:nvCxnSpPr>
          <p:cNvPr id="82" name="Connector 81"/>
          <p:cNvCxnSpPr/>
          <p:nvPr/>
        </p:nvCxnSpPr>
        <p:spPr>
          <a:xfrm>
            <a:off x="1700784" y="2148840"/>
            <a:ext cx="201168" cy="0"/>
          </a:xfrm>
          <a:prstGeom prst="line">
            <a:avLst/>
          </a:prstGeom>
          <a:ln w="12700">
            <a:solidFill>
              <a:srgbClr val="C9D6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Source Parts, technicians"/>
          <p:cNvSpPr/>
          <p:nvPr/>
        </p:nvSpPr>
        <p:spPr>
          <a:xfrm>
            <a:off x="329184" y="2441448"/>
            <a:ext cx="1371600" cy="438912"/>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384048" y="2459736"/>
            <a:ext cx="1280160" cy="411480"/>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Parts, technicians</a:t>
            </a:r>
          </a:p>
          <a:p>
            <a:pPr algn="l">
              <a:spcAft>
                <a:spcPts val="0"/>
              </a:spcAft>
            </a:pPr>
            <a:r>
              <a:rPr sz="700" b="0" i="0">
                <a:solidFill>
                  <a:srgbClr val="5A6470"/>
                </a:solidFill>
                <a:latin typeface="Arial"/>
              </a:rPr>
              <a:t>stock, skills · structured</a:t>
            </a:r>
          </a:p>
        </p:txBody>
      </p:sp>
      <p:cxnSp>
        <p:nvCxnSpPr>
          <p:cNvPr id="85" name="Connector 84"/>
          <p:cNvCxnSpPr/>
          <p:nvPr/>
        </p:nvCxnSpPr>
        <p:spPr>
          <a:xfrm>
            <a:off x="1700784" y="2660904"/>
            <a:ext cx="201168" cy="0"/>
          </a:xfrm>
          <a:prstGeom prst="line">
            <a:avLst/>
          </a:prstGeom>
          <a:ln w="12700">
            <a:solidFill>
              <a:srgbClr val="C9D6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Source Work-order notes"/>
          <p:cNvSpPr/>
          <p:nvPr/>
        </p:nvSpPr>
        <p:spPr>
          <a:xfrm>
            <a:off x="329184" y="2953512"/>
            <a:ext cx="1371600" cy="438912"/>
          </a:xfrm>
          <a:prstGeom prst="roundRect">
            <a:avLst>
              <a:gd name="adj" fmla="val 8000"/>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384048" y="2971800"/>
            <a:ext cx="1280160" cy="411480"/>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Work-order notes</a:t>
            </a:r>
          </a:p>
          <a:p>
            <a:pPr algn="l">
              <a:spcAft>
                <a:spcPts val="0"/>
              </a:spcAft>
            </a:pPr>
            <a:r>
              <a:rPr sz="700" b="0" i="0">
                <a:solidFill>
                  <a:srgbClr val="5A6470"/>
                </a:solidFill>
                <a:latin typeface="Arial"/>
              </a:rPr>
              <a:t>144, messy · unstructured</a:t>
            </a:r>
          </a:p>
        </p:txBody>
      </p:sp>
      <p:cxnSp>
        <p:nvCxnSpPr>
          <p:cNvPr id="88" name="Connector 87"/>
          <p:cNvCxnSpPr/>
          <p:nvPr/>
        </p:nvCxnSpPr>
        <p:spPr>
          <a:xfrm>
            <a:off x="1700784" y="3172968"/>
            <a:ext cx="201168" cy="0"/>
          </a:xfrm>
          <a:prstGeom prst="line">
            <a:avLst/>
          </a:prstGeom>
          <a:ln w="12700">
            <a:solidFill>
              <a:srgbClr val="C9D6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Source Shift handovers"/>
          <p:cNvSpPr/>
          <p:nvPr/>
        </p:nvSpPr>
        <p:spPr>
          <a:xfrm>
            <a:off x="329184" y="3465576"/>
            <a:ext cx="1371600" cy="438912"/>
          </a:xfrm>
          <a:prstGeom prst="roundRect">
            <a:avLst>
              <a:gd name="adj" fmla="val 8000"/>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384048" y="3483864"/>
            <a:ext cx="1280160" cy="411480"/>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Shift handovers</a:t>
            </a:r>
          </a:p>
          <a:p>
            <a:pPr algn="l">
              <a:spcAft>
                <a:spcPts val="0"/>
              </a:spcAft>
            </a:pPr>
            <a:r>
              <a:rPr sz="700" b="0" i="0">
                <a:solidFill>
                  <a:srgbClr val="5A6470"/>
                </a:solidFill>
                <a:latin typeface="Arial"/>
              </a:rPr>
              <a:t>295, Hinglish · unstructured</a:t>
            </a:r>
          </a:p>
        </p:txBody>
      </p:sp>
      <p:cxnSp>
        <p:nvCxnSpPr>
          <p:cNvPr id="91" name="Connector 90"/>
          <p:cNvCxnSpPr/>
          <p:nvPr/>
        </p:nvCxnSpPr>
        <p:spPr>
          <a:xfrm>
            <a:off x="1700784" y="3685032"/>
            <a:ext cx="201168" cy="0"/>
          </a:xfrm>
          <a:prstGeom prst="line">
            <a:avLst/>
          </a:prstGeom>
          <a:ln w="12700">
            <a:solidFill>
              <a:srgbClr val="C9D6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RAW"/>
          <p:cNvSpPr/>
          <p:nvPr/>
        </p:nvSpPr>
        <p:spPr>
          <a:xfrm>
            <a:off x="1901952" y="1417320"/>
            <a:ext cx="868680" cy="2487168"/>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1920240" y="2240280"/>
            <a:ext cx="832104" cy="822960"/>
          </a:xfrm>
          <a:prstGeom prst="rect">
            <a:avLst/>
          </a:prstGeom>
          <a:noFill/>
        </p:spPr>
        <p:txBody>
          <a:bodyPr wrap="square" lIns="36576" rIns="36576" tIns="18288" bIns="18288" anchor="t">
            <a:spAutoFit/>
          </a:bodyPr>
          <a:lstStyle/>
          <a:p>
            <a:pPr algn="ctr">
              <a:spcAft>
                <a:spcPts val="200"/>
              </a:spcAft>
            </a:pPr>
            <a:r>
              <a:rPr sz="1000" b="1" i="0">
                <a:solidFill>
                  <a:srgbClr val="0B1320"/>
                </a:solidFill>
                <a:latin typeface="Arial"/>
              </a:rPr>
              <a:t>RAW</a:t>
            </a:r>
          </a:p>
          <a:p>
            <a:pPr algn="ctr">
              <a:spcAft>
                <a:spcPts val="200"/>
              </a:spcAft>
            </a:pPr>
            <a:r>
              <a:rPr sz="750" b="0" i="0">
                <a:solidFill>
                  <a:srgbClr val="5A6470"/>
                </a:solidFill>
                <a:latin typeface="Arial"/>
              </a:rPr>
              <a:t>stage +</a:t>
            </a:r>
          </a:p>
          <a:p>
            <a:pPr algn="ctr">
              <a:spcAft>
                <a:spcPts val="200"/>
              </a:spcAft>
            </a:pPr>
            <a:r>
              <a:rPr sz="750" b="0" i="0">
                <a:solidFill>
                  <a:srgbClr val="5A6470"/>
                </a:solidFill>
                <a:latin typeface="Arial"/>
              </a:rPr>
              <a:t>COPY INTO</a:t>
            </a:r>
          </a:p>
        </p:txBody>
      </p:sp>
      <p:sp>
        <p:nvSpPr>
          <p:cNvPr id="94" name="Process CORE"/>
          <p:cNvSpPr/>
          <p:nvPr/>
        </p:nvSpPr>
        <p:spPr>
          <a:xfrm>
            <a:off x="2971800" y="1417320"/>
            <a:ext cx="1691640" cy="749808"/>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3026664" y="1453896"/>
            <a:ext cx="1600200" cy="694944"/>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CORE</a:t>
            </a:r>
          </a:p>
          <a:p>
            <a:pPr algn="l">
              <a:spcAft>
                <a:spcPts val="0"/>
              </a:spcAft>
            </a:pPr>
            <a:r>
              <a:rPr sz="750" b="0" i="0">
                <a:solidFill>
                  <a:srgbClr val="3F4A5A"/>
                </a:solidFill>
                <a:latin typeface="Arial"/>
              </a:rPr>
              <a:t>OEE_DAILY, ASSET_HEALTH</a:t>
            </a:r>
          </a:p>
        </p:txBody>
      </p:sp>
      <p:cxnSp>
        <p:nvCxnSpPr>
          <p:cNvPr id="96" name="Connector 95"/>
          <p:cNvCxnSpPr/>
          <p:nvPr/>
        </p:nvCxnSpPr>
        <p:spPr>
          <a:xfrm>
            <a:off x="2770632" y="1792224"/>
            <a:ext cx="201168" cy="0"/>
          </a:xfrm>
          <a:prstGeom prst="line">
            <a:avLst/>
          </a:prstGeom>
          <a:ln w="12700">
            <a:solidFill>
              <a:srgbClr val="C9D6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Serve Semantic View"/>
          <p:cNvSpPr/>
          <p:nvPr/>
        </p:nvSpPr>
        <p:spPr>
          <a:xfrm>
            <a:off x="4910328" y="1417320"/>
            <a:ext cx="1627632" cy="749808"/>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4965192" y="1453896"/>
            <a:ext cx="1536192" cy="694944"/>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Semantic View</a:t>
            </a:r>
          </a:p>
          <a:p>
            <a:pPr algn="l">
              <a:spcAft>
                <a:spcPts val="0"/>
              </a:spcAft>
            </a:pPr>
            <a:r>
              <a:rPr sz="750" b="0" i="0">
                <a:solidFill>
                  <a:srgbClr val="3F4A5A"/>
                </a:solidFill>
                <a:latin typeface="Arial"/>
              </a:rPr>
              <a:t>10 verified queries (Analyst)</a:t>
            </a:r>
          </a:p>
        </p:txBody>
      </p:sp>
      <p:sp>
        <p:nvSpPr>
          <p:cNvPr id="99" name="Process BRAIN: anomalies"/>
          <p:cNvSpPr/>
          <p:nvPr/>
        </p:nvSpPr>
        <p:spPr>
          <a:xfrm>
            <a:off x="2971800" y="2267712"/>
            <a:ext cx="1691640" cy="749808"/>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3026664" y="2304288"/>
            <a:ext cx="1600200" cy="694944"/>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BRAIN: anomalies</a:t>
            </a:r>
          </a:p>
          <a:p>
            <a:pPr algn="l">
              <a:spcAft>
                <a:spcPts val="0"/>
              </a:spcAft>
            </a:pPr>
            <a:r>
              <a:rPr sz="750" b="0" i="0">
                <a:solidFill>
                  <a:srgbClr val="3F4A5A"/>
                </a:solidFill>
                <a:latin typeface="Arial"/>
              </a:rPr>
              <a:t>z-score + slope, pattern match, failure window</a:t>
            </a:r>
          </a:p>
        </p:txBody>
      </p:sp>
      <p:cxnSp>
        <p:nvCxnSpPr>
          <p:cNvPr id="101" name="Connector 100"/>
          <p:cNvCxnSpPr/>
          <p:nvPr/>
        </p:nvCxnSpPr>
        <p:spPr>
          <a:xfrm>
            <a:off x="2770632" y="2642616"/>
            <a:ext cx="201168" cy="0"/>
          </a:xfrm>
          <a:prstGeom prst="line">
            <a:avLst/>
          </a:prstGeom>
          <a:ln w="12700">
            <a:solidFill>
              <a:srgbClr val="C9D6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2" name="Serve Cortex Agent"/>
          <p:cNvSpPr/>
          <p:nvPr/>
        </p:nvSpPr>
        <p:spPr>
          <a:xfrm>
            <a:off x="4910328" y="2267712"/>
            <a:ext cx="1627632" cy="749808"/>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4965192" y="2304288"/>
            <a:ext cx="1536192" cy="694944"/>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Cortex Agent</a:t>
            </a:r>
          </a:p>
          <a:p>
            <a:pPr algn="l">
              <a:spcAft>
                <a:spcPts val="0"/>
              </a:spcAft>
            </a:pPr>
            <a:r>
              <a:rPr sz="750" b="0" i="0">
                <a:solidFill>
                  <a:srgbClr val="3F4A5A"/>
                </a:solidFill>
                <a:latin typeface="Arial"/>
              </a:rPr>
              <a:t>cites, refuses, never approves</a:t>
            </a:r>
          </a:p>
        </p:txBody>
      </p:sp>
      <p:sp>
        <p:nvSpPr>
          <p:cNvPr id="104" name="Process BRAIN: knowledge cards"/>
          <p:cNvSpPr/>
          <p:nvPr/>
        </p:nvSpPr>
        <p:spPr>
          <a:xfrm>
            <a:off x="2971800" y="3118104"/>
            <a:ext cx="1691640" cy="749808"/>
          </a:xfrm>
          <a:prstGeom prst="roundRect">
            <a:avLst>
              <a:gd name="adj" fmla="val 8000"/>
            </a:avLst>
          </a:prstGeom>
          <a:solidFill>
            <a:srgbClr val="DCEBFB"/>
          </a:solidFill>
          <a:ln w="12700">
            <a:solidFill>
              <a:srgbClr val="0A63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3026664" y="3154680"/>
            <a:ext cx="1600200" cy="694944"/>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BRAIN: knowledge cards</a:t>
            </a:r>
          </a:p>
          <a:p>
            <a:pPr algn="l">
              <a:spcAft>
                <a:spcPts val="0"/>
              </a:spcAft>
            </a:pPr>
            <a:r>
              <a:rPr sz="750" b="0" i="0">
                <a:solidFill>
                  <a:srgbClr val="3F4A5A"/>
                </a:solidFill>
                <a:latin typeface="Arial"/>
              </a:rPr>
              <a:t>Cortex AI_COMPLETE → cards + graph (recurrence, staleness)</a:t>
            </a:r>
          </a:p>
        </p:txBody>
      </p:sp>
      <p:cxnSp>
        <p:nvCxnSpPr>
          <p:cNvPr id="106" name="Connector 105"/>
          <p:cNvCxnSpPr/>
          <p:nvPr/>
        </p:nvCxnSpPr>
        <p:spPr>
          <a:xfrm>
            <a:off x="2770632" y="3493008"/>
            <a:ext cx="201168" cy="0"/>
          </a:xfrm>
          <a:prstGeom prst="line">
            <a:avLst/>
          </a:prstGeom>
          <a:ln w="12700">
            <a:solidFill>
              <a:srgbClr val="C9D6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Serve Cortex Search"/>
          <p:cNvSpPr/>
          <p:nvPr/>
        </p:nvSpPr>
        <p:spPr>
          <a:xfrm>
            <a:off x="4910328" y="3118104"/>
            <a:ext cx="1627632" cy="749808"/>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4965192" y="3154680"/>
            <a:ext cx="1536192" cy="694944"/>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Cortex Search</a:t>
            </a:r>
          </a:p>
          <a:p>
            <a:pPr algn="l">
              <a:spcAft>
                <a:spcPts val="0"/>
              </a:spcAft>
            </a:pPr>
            <a:r>
              <a:rPr sz="750" b="0" i="0">
                <a:solidFill>
                  <a:srgbClr val="3F4A5A"/>
                </a:solidFill>
                <a:latin typeface="Arial"/>
              </a:rPr>
              <a:t>CARD_SEARCH over cards</a:t>
            </a:r>
          </a:p>
        </p:txBody>
      </p:sp>
      <p:cxnSp>
        <p:nvCxnSpPr>
          <p:cNvPr id="109" name="Connector 108"/>
          <p:cNvCxnSpPr/>
          <p:nvPr/>
        </p:nvCxnSpPr>
        <p:spPr>
          <a:xfrm>
            <a:off x="4663440" y="1792224"/>
            <a:ext cx="246888" cy="0"/>
          </a:xfrm>
          <a:prstGeom prst="line">
            <a:avLst/>
          </a:prstGeom>
          <a:ln w="19050">
            <a:solidFill>
              <a:srgbClr val="0A6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4663440" y="3493008"/>
            <a:ext cx="246888" cy="0"/>
          </a:xfrm>
          <a:prstGeom prst="line">
            <a:avLst/>
          </a:prstGeom>
          <a:ln w="19050">
            <a:solidFill>
              <a:srgbClr val="0A6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5724144" y="2167128"/>
            <a:ext cx="0" cy="100584"/>
          </a:xfrm>
          <a:prstGeom prst="line">
            <a:avLst/>
          </a:prstGeom>
          <a:ln w="19050">
            <a:solidFill>
              <a:srgbClr val="0A6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5724144" y="3017520"/>
            <a:ext cx="0" cy="100584"/>
          </a:xfrm>
          <a:prstGeom prst="line">
            <a:avLst/>
          </a:prstGeom>
          <a:ln w="19050">
            <a:solidFill>
              <a:srgbClr val="0A63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3" name="APP procs"/>
          <p:cNvSpPr/>
          <p:nvPr/>
        </p:nvSpPr>
        <p:spPr>
          <a:xfrm>
            <a:off x="6784848" y="1417320"/>
            <a:ext cx="2029968" cy="141732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Box 113"/>
          <p:cNvSpPr txBox="1"/>
          <p:nvPr/>
        </p:nvSpPr>
        <p:spPr>
          <a:xfrm>
            <a:off x="6858000" y="1463040"/>
            <a:ext cx="1901952" cy="1353312"/>
          </a:xfrm>
          <a:prstGeom prst="rect">
            <a:avLst/>
          </a:prstGeom>
          <a:noFill/>
        </p:spPr>
        <p:txBody>
          <a:bodyPr wrap="square" lIns="36576" rIns="36576" tIns="18288" bIns="18288" anchor="t">
            <a:spAutoFit/>
          </a:bodyPr>
          <a:lstStyle/>
          <a:p>
            <a:pPr algn="l">
              <a:spcAft>
                <a:spcPts val="100"/>
              </a:spcAft>
            </a:pPr>
            <a:r>
              <a:rPr sz="850" b="1" i="0">
                <a:solidFill>
                  <a:srgbClr val="FFFFFF"/>
                </a:solidFill>
                <a:latin typeface="Arial"/>
              </a:rPr>
              <a:t>APP procs (Snowpark)</a:t>
            </a:r>
          </a:p>
          <a:p>
            <a:pPr algn="l">
              <a:spcAft>
                <a:spcPts val="100"/>
              </a:spcAft>
            </a:pPr>
            <a:r>
              <a:rPr sz="750" b="0" i="0">
                <a:solidFill>
                  <a:srgbClr val="D5E1EF"/>
                </a:solidFill>
                <a:latin typeface="Arial"/>
              </a:rPr>
              <a:t>DRAFT_WORK_ORDER</a:t>
            </a:r>
          </a:p>
          <a:p>
            <a:pPr algn="l">
              <a:spcAft>
                <a:spcPts val="100"/>
              </a:spcAft>
            </a:pPr>
            <a:r>
              <a:rPr sz="750" b="1" i="0">
                <a:solidFill>
                  <a:srgbClr val="E8A33D"/>
                </a:solidFill>
                <a:latin typeface="Arial"/>
              </a:rPr>
              <a:t>APPROVE (human only)</a:t>
            </a:r>
          </a:p>
          <a:p>
            <a:pPr algn="l">
              <a:spcAft>
                <a:spcPts val="100"/>
              </a:spcAft>
            </a:pPr>
            <a:r>
              <a:rPr sz="750" b="0" i="0">
                <a:solidFill>
                  <a:srgbClr val="D5E1EF"/>
                </a:solidFill>
                <a:latin typeface="Arial"/>
              </a:rPr>
              <a:t>CLOSE_JOB → new card</a:t>
            </a:r>
          </a:p>
          <a:p>
            <a:pPr algn="l">
              <a:spcAft>
                <a:spcPts val="100"/>
              </a:spcAft>
            </a:pPr>
            <a:r>
              <a:rPr sz="750" b="0" i="0">
                <a:solidFill>
                  <a:srgbClr val="D5E1EF"/>
                </a:solidFill>
                <a:latin typeface="Arial"/>
              </a:rPr>
              <a:t>RESET_DEMO</a:t>
            </a:r>
          </a:p>
        </p:txBody>
      </p:sp>
      <p:cxnSp>
        <p:nvCxnSpPr>
          <p:cNvPr id="115" name="Connector 114"/>
          <p:cNvCxnSpPr/>
          <p:nvPr/>
        </p:nvCxnSpPr>
        <p:spPr>
          <a:xfrm flipV="1">
            <a:off x="6537960" y="2377440"/>
            <a:ext cx="246888" cy="265176"/>
          </a:xfrm>
          <a:prstGeom prst="line">
            <a:avLst/>
          </a:prstGeom>
          <a:ln w="19050">
            <a:solidFill>
              <a:srgbClr val="0A6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4663440" y="2642616"/>
            <a:ext cx="246888" cy="0"/>
          </a:xfrm>
          <a:prstGeom prst="line">
            <a:avLst/>
          </a:prstGeom>
          <a:ln w="12700">
            <a:solidFill>
              <a:srgbClr val="C9D6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7" name="Streamlit"/>
          <p:cNvSpPr/>
          <p:nvPr/>
        </p:nvSpPr>
        <p:spPr>
          <a:xfrm>
            <a:off x="6784848" y="3035808"/>
            <a:ext cx="2029968" cy="868680"/>
          </a:xfrm>
          <a:prstGeom prst="roundRect">
            <a:avLst>
              <a:gd name="adj" fmla="val 8000"/>
            </a:avLst>
          </a:prstGeom>
          <a:solidFill>
            <a:srgbClr val="EEF4FB"/>
          </a:solidFill>
          <a:ln w="12700">
            <a:solidFill>
              <a:srgbClr val="0A63C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6858000" y="3072384"/>
            <a:ext cx="1901952" cy="822960"/>
          </a:xfrm>
          <a:prstGeom prst="rect">
            <a:avLst/>
          </a:prstGeom>
          <a:noFill/>
        </p:spPr>
        <p:txBody>
          <a:bodyPr wrap="square" lIns="36576" rIns="36576" tIns="18288" bIns="18288" anchor="t">
            <a:spAutoFit/>
          </a:bodyPr>
          <a:lstStyle/>
          <a:p>
            <a:pPr algn="l">
              <a:spcAft>
                <a:spcPts val="0"/>
              </a:spcAft>
            </a:pPr>
            <a:r>
              <a:rPr sz="850" b="1" i="0">
                <a:solidFill>
                  <a:srgbClr val="0B1320"/>
                </a:solidFill>
                <a:latin typeface="Arial"/>
              </a:rPr>
              <a:t>Streamlit in Snowflake</a:t>
            </a:r>
          </a:p>
          <a:p>
            <a:pPr algn="l">
              <a:spcAft>
                <a:spcPts val="0"/>
              </a:spcAft>
            </a:pPr>
            <a:r>
              <a:rPr sz="700" b="0" i="0">
                <a:solidFill>
                  <a:srgbClr val="3F4A5A"/>
                </a:solidFill>
                <a:latin typeface="Arial"/>
              </a:rPr>
              <a:t>Command Center · Anomaly → Brain · Approval · Close Job · Ask the Plant</a:t>
            </a:r>
          </a:p>
        </p:txBody>
      </p:sp>
      <p:cxnSp>
        <p:nvCxnSpPr>
          <p:cNvPr id="119" name="Connector 118"/>
          <p:cNvCxnSpPr/>
          <p:nvPr/>
        </p:nvCxnSpPr>
        <p:spPr>
          <a:xfrm>
            <a:off x="7799831" y="2834640"/>
            <a:ext cx="0" cy="201168"/>
          </a:xfrm>
          <a:prstGeom prst="line">
            <a:avLst/>
          </a:prstGeom>
          <a:ln w="19050">
            <a:solidFill>
              <a:srgbClr val="0A63C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7799831" y="3904487"/>
            <a:ext cx="0" cy="164593"/>
          </a:xfrm>
          <a:prstGeom prst="line">
            <a:avLst/>
          </a:prstGeom>
          <a:ln w="22225">
            <a:solidFill>
              <a:srgbClr val="C2410C"/>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a:off x="3813048" y="4069080"/>
            <a:ext cx="3986783" cy="0"/>
          </a:xfrm>
          <a:prstGeom prst="line">
            <a:avLst/>
          </a:prstGeom>
          <a:ln w="22225">
            <a:solidFill>
              <a:srgbClr val="C2410C"/>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813048" y="3877056"/>
            <a:ext cx="0" cy="192024"/>
          </a:xfrm>
          <a:prstGeom prst="line">
            <a:avLst/>
          </a:prstGeom>
          <a:ln w="22225">
            <a:solidFill>
              <a:srgbClr val="C241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4572000" y="4078224"/>
            <a:ext cx="3108960" cy="201168"/>
          </a:xfrm>
          <a:prstGeom prst="rect">
            <a:avLst/>
          </a:prstGeom>
          <a:noFill/>
        </p:spPr>
        <p:txBody>
          <a:bodyPr wrap="square" lIns="36576" rIns="36576" tIns="18288" bIns="18288" anchor="t">
            <a:spAutoFit/>
          </a:bodyPr>
          <a:lstStyle/>
          <a:p>
            <a:pPr algn="l">
              <a:spcAft>
                <a:spcPts val="200"/>
              </a:spcAft>
            </a:pPr>
            <a:r>
              <a:rPr sz="750" b="1" i="0">
                <a:solidFill>
                  <a:srgbClr val="C2410C"/>
                </a:solidFill>
                <a:latin typeface="Arial"/>
              </a:rPr>
              <a:t>learning loop: the closing note becomes a new knowledge card</a:t>
            </a:r>
          </a:p>
        </p:txBody>
      </p:sp>
      <p:sp>
        <p:nvSpPr>
          <p:cNvPr id="124" name="TextBox 123"/>
          <p:cNvSpPr txBox="1"/>
          <p:nvPr/>
        </p:nvSpPr>
        <p:spPr>
          <a:xfrm>
            <a:off x="329184" y="4315968"/>
            <a:ext cx="8503920" cy="566928"/>
          </a:xfrm>
          <a:prstGeom prst="rect">
            <a:avLst/>
          </a:prstGeom>
          <a:noFill/>
        </p:spPr>
        <p:txBody>
          <a:bodyPr wrap="square" lIns="36576" rIns="36576" tIns="18288" bIns="18288" anchor="t">
            <a:spAutoFit/>
          </a:bodyPr>
          <a:lstStyle/>
          <a:p>
            <a:pPr algn="l">
              <a:spcAft>
                <a:spcPts val="200"/>
              </a:spcAft>
            </a:pPr>
            <a:r>
              <a:rPr sz="800" b="1" i="0">
                <a:solidFill>
                  <a:srgbClr val="0A63C9"/>
                </a:solidFill>
                <a:latin typeface="Arial"/>
              </a:rPr>
              <a:t>CoCo CLI skills: </a:t>
            </a:r>
            <a:r>
              <a:rPr sz="800" b="0" i="0">
                <a:solidFill>
                  <a:srgbClr val="0B1320"/>
                </a:solidFill>
                <a:latin typeface="Arial"/>
              </a:rPr>
              <a:t>card-extractor (extraction rules → AI_COMPLETE prompt + mock) and work-order-drafter (drafting rules → DRAFT_WORK_ORDER). </a:t>
            </a:r>
            <a:r>
              <a:rPr sz="800" b="1" i="0">
                <a:solidFill>
                  <a:srgbClr val="0A63C9"/>
                </a:solidFill>
                <a:latin typeface="Arial"/>
              </a:rPr>
              <a:t>Modular: </a:t>
            </a:r>
            <a:r>
              <a:rPr sz="800" b="0" i="0">
                <a:solidFill>
                  <a:srgbClr val="0B1320"/>
                </a:solidFill>
                <a:latin typeface="Arial"/>
              </a:rPr>
              <a:t>one SQL file per box (00–09); one core Python package runs in Streamlit, the stored procedures and a local mock that executes the same SQL on DuckDB.</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6" title="Framewsxexexe 233.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75" name="Title"/>
          <p:cNvSpPr txBox="1"/>
          <p:nvPr/>
        </p:nvSpPr>
        <p:spPr>
          <a:xfrm>
            <a:off x="329184" y="566928"/>
            <a:ext cx="8503920" cy="384048"/>
          </a:xfrm>
          <a:prstGeom prst="rect">
            <a:avLst/>
          </a:prstGeom>
          <a:noFill/>
        </p:spPr>
        <p:txBody>
          <a:bodyPr wrap="square" lIns="36576" rIns="36576" tIns="18288" bIns="18288" anchor="t">
            <a:spAutoFit/>
          </a:bodyPr>
          <a:lstStyle/>
          <a:p>
            <a:pPr algn="l">
              <a:spcAft>
                <a:spcPts val="200"/>
              </a:spcAft>
            </a:pPr>
            <a:r>
              <a:rPr sz="2000" b="1" i="0">
                <a:solidFill>
                  <a:srgbClr val="0B1320"/>
                </a:solidFill>
                <a:latin typeface="Manrope"/>
              </a:rPr>
              <a:t>3. Impact Statement</a:t>
            </a:r>
          </a:p>
        </p:txBody>
      </p:sp>
      <p:sp>
        <p:nvSpPr>
          <p:cNvPr id="76" name="Subtitle"/>
          <p:cNvSpPr txBox="1"/>
          <p:nvPr/>
        </p:nvSpPr>
        <p:spPr>
          <a:xfrm>
            <a:off x="329184" y="914400"/>
            <a:ext cx="8503920" cy="274320"/>
          </a:xfrm>
          <a:prstGeom prst="rect">
            <a:avLst/>
          </a:prstGeom>
          <a:noFill/>
        </p:spPr>
        <p:txBody>
          <a:bodyPr wrap="square" lIns="36576" rIns="36576" tIns="18288" bIns="18288" anchor="t">
            <a:spAutoFit/>
          </a:bodyPr>
          <a:lstStyle/>
          <a:p>
            <a:pPr algn="l">
              <a:spcAft>
                <a:spcPts val="200"/>
              </a:spcAft>
            </a:pPr>
            <a:r>
              <a:rPr sz="1050" b="0" i="0">
                <a:solidFill>
                  <a:srgbClr val="3F4A5A"/>
                </a:solidFill>
                <a:latin typeface="Arial"/>
              </a:rPr>
              <a:t>Measured on the synthetic golden scenario; business outcomes are illustrative targets.</a:t>
            </a:r>
          </a:p>
        </p:txBody>
      </p:sp>
      <p:sp>
        <p:nvSpPr>
          <p:cNvPr id="77" name="Stat 25/25"/>
          <p:cNvSpPr/>
          <p:nvPr/>
        </p:nvSpPr>
        <p:spPr>
          <a:xfrm>
            <a:off x="329184" y="1298448"/>
            <a:ext cx="2011680" cy="1298448"/>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420623" y="1353312"/>
            <a:ext cx="1828800" cy="1234440"/>
          </a:xfrm>
          <a:prstGeom prst="rect">
            <a:avLst/>
          </a:prstGeom>
          <a:noFill/>
        </p:spPr>
        <p:txBody>
          <a:bodyPr wrap="square" lIns="36576" rIns="36576" tIns="18288" bIns="18288" anchor="t">
            <a:spAutoFit/>
          </a:bodyPr>
          <a:lstStyle/>
          <a:p>
            <a:pPr algn="l">
              <a:spcAft>
                <a:spcPts val="100"/>
              </a:spcAft>
            </a:pPr>
            <a:r>
              <a:rPr sz="2400" b="1" i="0">
                <a:solidFill>
                  <a:srgbClr val="0A63C9"/>
                </a:solidFill>
                <a:latin typeface="Manrope"/>
              </a:rPr>
              <a:t>25/25</a:t>
            </a:r>
          </a:p>
          <a:p>
            <a:pPr algn="l">
              <a:spcAft>
                <a:spcPts val="100"/>
              </a:spcAft>
            </a:pPr>
            <a:r>
              <a:rPr sz="900" b="1" i="0">
                <a:solidFill>
                  <a:srgbClr val="0B1320"/>
                </a:solidFill>
                <a:latin typeface="Arial"/>
              </a:rPr>
              <a:t>golden questions answered correctly</a:t>
            </a:r>
          </a:p>
          <a:p>
            <a:pPr algn="l">
              <a:spcAft>
                <a:spcPts val="100"/>
              </a:spcAft>
            </a:pPr>
            <a:r>
              <a:rPr sz="800" b="0" i="0">
                <a:solidFill>
                  <a:srgbClr val="5A6470"/>
                </a:solidFill>
                <a:latin typeface="Arial"/>
              </a:rPr>
              <a:t>naive keyword-RAG baseline: 10/25</a:t>
            </a:r>
          </a:p>
        </p:txBody>
      </p:sp>
      <p:sp>
        <p:nvSpPr>
          <p:cNvPr id="79" name="Stat 5/5"/>
          <p:cNvSpPr/>
          <p:nvPr/>
        </p:nvSpPr>
        <p:spPr>
          <a:xfrm>
            <a:off x="2468879" y="1298448"/>
            <a:ext cx="2011680" cy="1298448"/>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2560320" y="1353312"/>
            <a:ext cx="1828800" cy="1234440"/>
          </a:xfrm>
          <a:prstGeom prst="rect">
            <a:avLst/>
          </a:prstGeom>
          <a:noFill/>
        </p:spPr>
        <p:txBody>
          <a:bodyPr wrap="square" lIns="36576" rIns="36576" tIns="18288" bIns="18288" anchor="t">
            <a:spAutoFit/>
          </a:bodyPr>
          <a:lstStyle/>
          <a:p>
            <a:pPr algn="l">
              <a:spcAft>
                <a:spcPts val="100"/>
              </a:spcAft>
            </a:pPr>
            <a:r>
              <a:rPr sz="2400" b="1" i="0">
                <a:solidFill>
                  <a:srgbClr val="0A63C9"/>
                </a:solidFill>
                <a:latin typeface="Manrope"/>
              </a:rPr>
              <a:t>5/5</a:t>
            </a:r>
          </a:p>
          <a:p>
            <a:pPr algn="l">
              <a:spcAft>
                <a:spcPts val="100"/>
              </a:spcAft>
            </a:pPr>
            <a:r>
              <a:rPr sz="900" b="1" i="0">
                <a:solidFill>
                  <a:srgbClr val="0B1320"/>
                </a:solidFill>
                <a:latin typeface="Arial"/>
              </a:rPr>
              <a:t>out-of-scope questions correctly refused</a:t>
            </a:r>
          </a:p>
          <a:p>
            <a:pPr algn="l">
              <a:spcAft>
                <a:spcPts val="100"/>
              </a:spcAft>
            </a:pPr>
            <a:r>
              <a:rPr sz="800" b="0" i="0">
                <a:solidFill>
                  <a:srgbClr val="5A6470"/>
                </a:solidFill>
                <a:latin typeface="Arial"/>
              </a:rPr>
              <a:t>baseline: 3/5</a:t>
            </a:r>
          </a:p>
        </p:txBody>
      </p:sp>
      <p:sp>
        <p:nvSpPr>
          <p:cNvPr id="81" name="Stat 12/12"/>
          <p:cNvSpPr/>
          <p:nvPr/>
        </p:nvSpPr>
        <p:spPr>
          <a:xfrm>
            <a:off x="4608576" y="1298448"/>
            <a:ext cx="2011680" cy="1298448"/>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4700016" y="1353312"/>
            <a:ext cx="1828800" cy="1234440"/>
          </a:xfrm>
          <a:prstGeom prst="rect">
            <a:avLst/>
          </a:prstGeom>
          <a:noFill/>
        </p:spPr>
        <p:txBody>
          <a:bodyPr wrap="square" lIns="36576" rIns="36576" tIns="18288" bIns="18288" anchor="t">
            <a:spAutoFit/>
          </a:bodyPr>
          <a:lstStyle/>
          <a:p>
            <a:pPr algn="l">
              <a:spcAft>
                <a:spcPts val="100"/>
              </a:spcAft>
            </a:pPr>
            <a:r>
              <a:rPr sz="2400" b="1" i="0">
                <a:solidFill>
                  <a:srgbClr val="0A63C9"/>
                </a:solidFill>
                <a:latin typeface="Manrope"/>
              </a:rPr>
              <a:t>12/12</a:t>
            </a:r>
          </a:p>
          <a:p>
            <a:pPr algn="l">
              <a:spcAft>
                <a:spcPts val="100"/>
              </a:spcAft>
            </a:pPr>
            <a:r>
              <a:rPr sz="900" b="1" i="0">
                <a:solidFill>
                  <a:srgbClr val="0B1320"/>
                </a:solidFill>
                <a:latin typeface="Arial"/>
              </a:rPr>
              <a:t>expected knowledge cards found in messy, Hinglish notes</a:t>
            </a:r>
          </a:p>
          <a:p>
            <a:pPr algn="l">
              <a:spcAft>
                <a:spcPts val="100"/>
              </a:spcAft>
            </a:pPr>
            <a:r>
              <a:rPr sz="800" b="0" i="0">
                <a:solidFill>
                  <a:srgbClr val="5A6470"/>
                </a:solidFill>
                <a:latin typeface="Arial"/>
              </a:rPr>
              <a:t>incl. the one clear note, HN-0163</a:t>
            </a:r>
          </a:p>
        </p:txBody>
      </p:sp>
      <p:sp>
        <p:nvSpPr>
          <p:cNvPr id="83" name="Stat 21–54 h"/>
          <p:cNvSpPr/>
          <p:nvPr/>
        </p:nvSpPr>
        <p:spPr>
          <a:xfrm>
            <a:off x="6748272" y="1298448"/>
            <a:ext cx="2011680" cy="1298448"/>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6839712" y="1353312"/>
            <a:ext cx="1828800" cy="1234440"/>
          </a:xfrm>
          <a:prstGeom prst="rect">
            <a:avLst/>
          </a:prstGeom>
          <a:noFill/>
        </p:spPr>
        <p:txBody>
          <a:bodyPr wrap="square" lIns="36576" rIns="36576" tIns="18288" bIns="18288" anchor="t">
            <a:spAutoFit/>
          </a:bodyPr>
          <a:lstStyle/>
          <a:p>
            <a:pPr algn="l">
              <a:spcAft>
                <a:spcPts val="100"/>
              </a:spcAft>
            </a:pPr>
            <a:r>
              <a:rPr sz="2400" b="1" i="0">
                <a:solidFill>
                  <a:srgbClr val="0A63C9"/>
                </a:solidFill>
                <a:latin typeface="Manrope"/>
              </a:rPr>
              <a:t>21–54 h</a:t>
            </a:r>
          </a:p>
          <a:p>
            <a:pPr algn="l">
              <a:spcAft>
                <a:spcPts val="100"/>
              </a:spcAft>
            </a:pPr>
            <a:r>
              <a:rPr sz="900" b="1" i="0">
                <a:solidFill>
                  <a:srgbClr val="0B1320"/>
                </a:solidFill>
                <a:latin typeface="Arial"/>
              </a:rPr>
              <a:t>failure-window estimate for P3</a:t>
            </a:r>
          </a:p>
          <a:p>
            <a:pPr algn="l">
              <a:spcAft>
                <a:spcPts val="100"/>
              </a:spcAft>
            </a:pPr>
            <a:r>
              <a:rPr sz="800" b="0" i="0">
                <a:solidFill>
                  <a:srgbClr val="5A6470"/>
                </a:solidFill>
                <a:latin typeface="Arial"/>
              </a:rPr>
              <a:t>contains the true ~24 h remaining</a:t>
            </a:r>
          </a:p>
        </p:txBody>
      </p:sp>
      <p:sp>
        <p:nvSpPr>
          <p:cNvPr id="85" name="TextBox 84"/>
          <p:cNvSpPr txBox="1"/>
          <p:nvPr/>
        </p:nvSpPr>
        <p:spPr>
          <a:xfrm>
            <a:off x="329184" y="2651760"/>
            <a:ext cx="8503920" cy="201168"/>
          </a:xfrm>
          <a:prstGeom prst="rect">
            <a:avLst/>
          </a:prstGeom>
          <a:noFill/>
        </p:spPr>
        <p:txBody>
          <a:bodyPr wrap="square" lIns="36576" rIns="36576" tIns="18288" bIns="18288" anchor="t">
            <a:spAutoFit/>
          </a:bodyPr>
          <a:lstStyle/>
          <a:p>
            <a:pPr algn="l">
              <a:spcAft>
                <a:spcPts val="200"/>
              </a:spcAft>
            </a:pPr>
            <a:r>
              <a:rPr sz="750" b="0" i="1">
                <a:solidFill>
                  <a:srgbClr val="5A6470"/>
                </a:solidFill>
                <a:latin typeface="Arial"/>
              </a:rPr>
              <a:t>Local mock run, no LLM (retrieval, routing, graph, guard). Cortex numbers: eval/run_eval.py --snowflake.</a:t>
            </a:r>
          </a:p>
        </p:txBody>
      </p:sp>
      <p:sp>
        <p:nvSpPr>
          <p:cNvPr id="86" name="Impact Measurable outcomes (targets)"/>
          <p:cNvSpPr/>
          <p:nvPr/>
        </p:nvSpPr>
        <p:spPr>
          <a:xfrm>
            <a:off x="329184" y="2926080"/>
            <a:ext cx="2724912" cy="1874519"/>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420623" y="2990088"/>
            <a:ext cx="2560320" cy="1783080"/>
          </a:xfrm>
          <a:prstGeom prst="rect">
            <a:avLst/>
          </a:prstGeom>
          <a:noFill/>
        </p:spPr>
        <p:txBody>
          <a:bodyPr wrap="square" lIns="36576" rIns="36576" tIns="18288" bIns="18288" anchor="t">
            <a:spAutoFit/>
          </a:bodyPr>
          <a:lstStyle/>
          <a:p>
            <a:pPr algn="l">
              <a:spcAft>
                <a:spcPts val="500"/>
              </a:spcAft>
            </a:pPr>
            <a:r>
              <a:rPr sz="1150" b="1" i="0">
                <a:solidFill>
                  <a:srgbClr val="0A63C9"/>
                </a:solidFill>
                <a:latin typeface="Arial"/>
              </a:rPr>
              <a:t>Measurable outcomes (targets)</a:t>
            </a:r>
          </a:p>
          <a:p>
            <a:pPr algn="l">
              <a:spcAft>
                <a:spcPts val="500"/>
              </a:spcAft>
            </a:pPr>
            <a:r>
              <a:rPr sz="1000" b="0" i="0">
                <a:solidFill>
                  <a:srgbClr val="0B1320"/>
                </a:solidFill>
                <a:latin typeface="Arial"/>
              </a:rPr>
              <a:t>• Time to find the known fix: phone calls and digging → under a minute, on screen</a:t>
            </a:r>
          </a:p>
          <a:p>
            <a:pPr algn="l">
              <a:spcAft>
                <a:spcPts val="500"/>
              </a:spcAft>
            </a:pPr>
            <a:r>
              <a:rPr sz="1000" b="0" i="0">
                <a:solidFill>
                  <a:srgbClr val="0B1320"/>
                </a:solidFill>
                <a:latin typeface="Arial"/>
              </a:rPr>
              <a:t>• Repeat failures avoided: the 9-day bearing recurrence is flagged before work starts</a:t>
            </a:r>
          </a:p>
          <a:p>
            <a:pPr algn="l">
              <a:spcAft>
                <a:spcPts val="500"/>
              </a:spcAft>
            </a:pPr>
            <a:r>
              <a:rPr sz="1000" b="0" i="0">
                <a:solidFill>
                  <a:srgbClr val="0B1320"/>
                </a:solidFill>
                <a:latin typeface="Arial"/>
              </a:rPr>
              <a:t>• Parts risk caught early: BRG-6312 at 1 in stock, 21-day lead time</a:t>
            </a:r>
          </a:p>
        </p:txBody>
      </p:sp>
      <p:sp>
        <p:nvSpPr>
          <p:cNvPr id="88" name="Impact Scalability"/>
          <p:cNvSpPr/>
          <p:nvPr/>
        </p:nvSpPr>
        <p:spPr>
          <a:xfrm>
            <a:off x="3182112" y="2926080"/>
            <a:ext cx="2724912" cy="1874519"/>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3273552" y="2990088"/>
            <a:ext cx="2560320" cy="1783080"/>
          </a:xfrm>
          <a:prstGeom prst="rect">
            <a:avLst/>
          </a:prstGeom>
          <a:noFill/>
        </p:spPr>
        <p:txBody>
          <a:bodyPr wrap="square" lIns="36576" rIns="36576" tIns="18288" bIns="18288" anchor="t">
            <a:spAutoFit/>
          </a:bodyPr>
          <a:lstStyle/>
          <a:p>
            <a:pPr algn="l">
              <a:spcAft>
                <a:spcPts val="500"/>
              </a:spcAft>
            </a:pPr>
            <a:r>
              <a:rPr sz="1150" b="1" i="0">
                <a:solidFill>
                  <a:srgbClr val="0A63C9"/>
                </a:solidFill>
                <a:latin typeface="Arial"/>
              </a:rPr>
              <a:t>Scalability</a:t>
            </a:r>
          </a:p>
          <a:p>
            <a:pPr algn="l">
              <a:spcAft>
                <a:spcPts val="500"/>
              </a:spcAft>
            </a:pPr>
            <a:r>
              <a:rPr sz="1000" b="0" i="0">
                <a:solidFill>
                  <a:srgbClr val="0B1320"/>
                </a:solidFill>
                <a:latin typeface="Arial"/>
              </a:rPr>
              <a:t>• Snowflake-native: no data leaves the account; XS warehouse, auto-suspend</a:t>
            </a:r>
          </a:p>
          <a:p>
            <a:pPr algn="l">
              <a:spcAft>
                <a:spcPts val="500"/>
              </a:spcAft>
            </a:pPr>
            <a:r>
              <a:rPr sz="1000" b="0" i="0">
                <a:solidFill>
                  <a:srgbClr val="0B1320"/>
                </a:solidFill>
                <a:latin typeface="Arial"/>
              </a:rPr>
              <a:t>• Incremental: one AI_COMPLETE call per new note, cached by text hash</a:t>
            </a:r>
          </a:p>
          <a:p>
            <a:pPr algn="l">
              <a:spcAft>
                <a:spcPts val="500"/>
              </a:spcAft>
            </a:pPr>
            <a:r>
              <a:rPr sz="1000" b="0" i="0">
                <a:solidFill>
                  <a:srgbClr val="0B1320"/>
                </a:solidFill>
                <a:latin typeface="Arial"/>
              </a:rPr>
              <a:t>• Same schema per plant; cards shareable across sister plants</a:t>
            </a:r>
          </a:p>
        </p:txBody>
      </p:sp>
      <p:sp>
        <p:nvSpPr>
          <p:cNvPr id="90" name="Impact Beyond the demo"/>
          <p:cNvSpPr/>
          <p:nvPr/>
        </p:nvSpPr>
        <p:spPr>
          <a:xfrm>
            <a:off x="6035040" y="2926080"/>
            <a:ext cx="2724912" cy="1874519"/>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6126480" y="2990088"/>
            <a:ext cx="2560320" cy="1783080"/>
          </a:xfrm>
          <a:prstGeom prst="rect">
            <a:avLst/>
          </a:prstGeom>
          <a:noFill/>
        </p:spPr>
        <p:txBody>
          <a:bodyPr wrap="square" lIns="36576" rIns="36576" tIns="18288" bIns="18288" anchor="t">
            <a:spAutoFit/>
          </a:bodyPr>
          <a:lstStyle/>
          <a:p>
            <a:pPr algn="l">
              <a:spcAft>
                <a:spcPts val="500"/>
              </a:spcAft>
            </a:pPr>
            <a:r>
              <a:rPr sz="1150" b="1" i="0">
                <a:solidFill>
                  <a:srgbClr val="0A63C9"/>
                </a:solidFill>
                <a:latin typeface="Arial"/>
              </a:rPr>
              <a:t>Beyond the demo</a:t>
            </a:r>
          </a:p>
          <a:p>
            <a:pPr algn="l">
              <a:spcAft>
                <a:spcPts val="500"/>
              </a:spcAft>
            </a:pPr>
            <a:r>
              <a:rPr sz="1000" b="0" i="0">
                <a:solidFill>
                  <a:srgbClr val="0B1320"/>
                </a:solidFill>
                <a:latin typeface="Arial"/>
              </a:rPr>
              <a:t>• Knowledge survives retirements: every closed job adds cards</a:t>
            </a:r>
          </a:p>
          <a:p>
            <a:pPr algn="l">
              <a:spcAft>
                <a:spcPts val="500"/>
              </a:spcAft>
            </a:pPr>
            <a:r>
              <a:rPr sz="1000" b="0" i="0">
                <a:solidFill>
                  <a:srgbClr val="0B1320"/>
                </a:solidFill>
                <a:latin typeface="Arial"/>
              </a:rPr>
              <a:t>• Staleness alerts when an asset changes (basic flag live)</a:t>
            </a:r>
          </a:p>
          <a:p>
            <a:pPr algn="l">
              <a:spcAft>
                <a:spcPts val="500"/>
              </a:spcAft>
            </a:pPr>
            <a:r>
              <a:rPr sz="1000" b="0" i="0">
                <a:solidFill>
                  <a:srgbClr val="0B1320"/>
                </a:solidFill>
                <a:latin typeface="Arial"/>
              </a:rPr>
              <a:t>• Voice notes and an MCP server for technician apps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7" title="Framewsxexexe 233.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80" name="Title"/>
          <p:cNvSpPr txBox="1"/>
          <p:nvPr/>
        </p:nvSpPr>
        <p:spPr>
          <a:xfrm>
            <a:off x="329184" y="566928"/>
            <a:ext cx="8503920" cy="384048"/>
          </a:xfrm>
          <a:prstGeom prst="rect">
            <a:avLst/>
          </a:prstGeom>
          <a:noFill/>
        </p:spPr>
        <p:txBody>
          <a:bodyPr wrap="square" lIns="36576" rIns="36576" tIns="18288" bIns="18288" anchor="t">
            <a:spAutoFit/>
          </a:bodyPr>
          <a:lstStyle/>
          <a:p>
            <a:pPr algn="l">
              <a:spcAft>
                <a:spcPts val="200"/>
              </a:spcAft>
            </a:pPr>
            <a:r>
              <a:rPr sz="2000" b="1" i="0">
                <a:solidFill>
                  <a:srgbClr val="0B1320"/>
                </a:solidFill>
                <a:latin typeface="Manrope"/>
              </a:rPr>
              <a:t>The solution: one loop: detect, recall, act, learn</a:t>
            </a:r>
          </a:p>
        </p:txBody>
      </p:sp>
      <p:sp>
        <p:nvSpPr>
          <p:cNvPr id="81" name="Subtitle"/>
          <p:cNvSpPr txBox="1"/>
          <p:nvPr/>
        </p:nvSpPr>
        <p:spPr>
          <a:xfrm>
            <a:off x="329184" y="914400"/>
            <a:ext cx="8503920" cy="274320"/>
          </a:xfrm>
          <a:prstGeom prst="rect">
            <a:avLst/>
          </a:prstGeom>
          <a:noFill/>
        </p:spPr>
        <p:txBody>
          <a:bodyPr wrap="square" lIns="36576" rIns="36576" tIns="18288" bIns="18288" anchor="t">
            <a:spAutoFit/>
          </a:bodyPr>
          <a:lstStyle/>
          <a:p>
            <a:pPr algn="l">
              <a:spcAft>
                <a:spcPts val="200"/>
              </a:spcAft>
            </a:pPr>
            <a:r>
              <a:rPr sz="1050" b="0" i="0">
                <a:solidFill>
                  <a:srgbClr val="3F4A5A"/>
                </a:solidFill>
                <a:latin typeface="Arial"/>
              </a:rPr>
              <a:t>Demo scenario: Press P3 has failed this way three times; on the last day the same pattern starts again.</a:t>
            </a:r>
          </a:p>
        </p:txBody>
      </p:sp>
      <p:sp>
        <p:nvSpPr>
          <p:cNvPr id="82" name="Step 01"/>
          <p:cNvSpPr/>
          <p:nvPr/>
        </p:nvSpPr>
        <p:spPr>
          <a:xfrm>
            <a:off x="329184" y="1325880"/>
            <a:ext cx="2743200" cy="118872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438912" y="1399032"/>
            <a:ext cx="2523744" cy="1078992"/>
          </a:xfrm>
          <a:prstGeom prst="rect">
            <a:avLst/>
          </a:prstGeom>
          <a:noFill/>
        </p:spPr>
        <p:txBody>
          <a:bodyPr wrap="square" lIns="36576" rIns="36576" tIns="18288" bIns="18288" anchor="t">
            <a:spAutoFit/>
          </a:bodyPr>
          <a:lstStyle/>
          <a:p>
            <a:pPr algn="l">
              <a:spcAft>
                <a:spcPts val="200"/>
              </a:spcAft>
            </a:pPr>
            <a:r>
              <a:rPr sz="900" b="1" i="0">
                <a:solidFill>
                  <a:srgbClr val="1497D4"/>
                </a:solidFill>
                <a:latin typeface="Arial"/>
              </a:rPr>
              <a:t>01</a:t>
            </a:r>
          </a:p>
          <a:p>
            <a:pPr algn="l">
              <a:spcAft>
                <a:spcPts val="200"/>
              </a:spcAft>
            </a:pPr>
            <a:r>
              <a:rPr sz="1300" b="1" i="0">
                <a:solidFill>
                  <a:srgbClr val="0B1320"/>
                </a:solidFill>
                <a:latin typeface="Manrope"/>
              </a:rPr>
              <a:t>Anomaly detected</a:t>
            </a:r>
          </a:p>
          <a:p>
            <a:pPr algn="l">
              <a:spcAft>
                <a:spcPts val="200"/>
              </a:spcAft>
            </a:pPr>
            <a:r>
              <a:rPr sz="1000" b="0" i="0">
                <a:solidFill>
                  <a:srgbClr val="3F4A5A"/>
                </a:solidFill>
                <a:latin typeface="Arial"/>
              </a:rPr>
              <a:t>P3 vibration +9%, temperature following: CRITICAL (matches 4 past failures)</a:t>
            </a:r>
          </a:p>
        </p:txBody>
      </p:sp>
      <p:sp>
        <p:nvSpPr>
          <p:cNvPr id="84" name="Step 02"/>
          <p:cNvSpPr/>
          <p:nvPr/>
        </p:nvSpPr>
        <p:spPr>
          <a:xfrm>
            <a:off x="3200400" y="1325880"/>
            <a:ext cx="2743200" cy="118872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3310128" y="1399032"/>
            <a:ext cx="2523744" cy="1078992"/>
          </a:xfrm>
          <a:prstGeom prst="rect">
            <a:avLst/>
          </a:prstGeom>
          <a:noFill/>
        </p:spPr>
        <p:txBody>
          <a:bodyPr wrap="square" lIns="36576" rIns="36576" tIns="18288" bIns="18288" anchor="t">
            <a:spAutoFit/>
          </a:bodyPr>
          <a:lstStyle/>
          <a:p>
            <a:pPr algn="l">
              <a:spcAft>
                <a:spcPts val="200"/>
              </a:spcAft>
            </a:pPr>
            <a:r>
              <a:rPr sz="900" b="1" i="0">
                <a:solidFill>
                  <a:srgbClr val="1497D4"/>
                </a:solidFill>
                <a:latin typeface="Arial"/>
              </a:rPr>
              <a:t>02</a:t>
            </a:r>
          </a:p>
          <a:p>
            <a:pPr algn="l">
              <a:spcAft>
                <a:spcPts val="200"/>
              </a:spcAft>
            </a:pPr>
            <a:r>
              <a:rPr sz="1300" b="1" i="0">
                <a:solidFill>
                  <a:srgbClr val="0B1320"/>
                </a:solidFill>
                <a:latin typeface="Manrope"/>
              </a:rPr>
              <a:t>Brain recall</a:t>
            </a:r>
          </a:p>
          <a:p>
            <a:pPr algn="l">
              <a:spcAft>
                <a:spcPts val="200"/>
              </a:spcAft>
            </a:pPr>
            <a:r>
              <a:rPr sz="1000" b="0" i="0">
                <a:solidFill>
                  <a:srgbClr val="3F4A5A"/>
                </a:solidFill>
                <a:latin typeface="Arial"/>
              </a:rPr>
              <a:t>Ravi's fix: bearing AND grease LG-2 → HT-3, cited from handover note HN-0163</a:t>
            </a:r>
          </a:p>
        </p:txBody>
      </p:sp>
      <p:sp>
        <p:nvSpPr>
          <p:cNvPr id="86" name="Step 03"/>
          <p:cNvSpPr/>
          <p:nvPr/>
        </p:nvSpPr>
        <p:spPr>
          <a:xfrm>
            <a:off x="6071616" y="1325880"/>
            <a:ext cx="2743200" cy="118872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6181344" y="1399032"/>
            <a:ext cx="2523744" cy="1078992"/>
          </a:xfrm>
          <a:prstGeom prst="rect">
            <a:avLst/>
          </a:prstGeom>
          <a:noFill/>
        </p:spPr>
        <p:txBody>
          <a:bodyPr wrap="square" lIns="36576" rIns="36576" tIns="18288" bIns="18288" anchor="t">
            <a:spAutoFit/>
          </a:bodyPr>
          <a:lstStyle/>
          <a:p>
            <a:pPr algn="l">
              <a:spcAft>
                <a:spcPts val="200"/>
              </a:spcAft>
            </a:pPr>
            <a:r>
              <a:rPr sz="900" b="1" i="0">
                <a:solidFill>
                  <a:srgbClr val="1497D4"/>
                </a:solidFill>
                <a:latin typeface="Arial"/>
              </a:rPr>
              <a:t>03</a:t>
            </a:r>
          </a:p>
          <a:p>
            <a:pPr algn="l">
              <a:spcAft>
                <a:spcPts val="200"/>
              </a:spcAft>
            </a:pPr>
            <a:r>
              <a:rPr sz="1300" b="1" i="0">
                <a:solidFill>
                  <a:srgbClr val="0B1320"/>
                </a:solidFill>
                <a:latin typeface="Manrope"/>
              </a:rPr>
              <a:t>Failure window</a:t>
            </a:r>
          </a:p>
          <a:p>
            <a:pPr algn="l">
              <a:spcAft>
                <a:spcPts val="200"/>
              </a:spcAft>
            </a:pPr>
            <a:r>
              <a:rPr sz="1000" b="0" i="0">
                <a:solidFill>
                  <a:srgbClr val="3F4A5A"/>
                </a:solidFill>
                <a:latin typeface="Arial"/>
              </a:rPr>
              <a:t>Estimate 21–54 h to threshold, shown as a range, never one number</a:t>
            </a:r>
          </a:p>
        </p:txBody>
      </p:sp>
      <p:sp>
        <p:nvSpPr>
          <p:cNvPr id="88" name="Step 04"/>
          <p:cNvSpPr/>
          <p:nvPr/>
        </p:nvSpPr>
        <p:spPr>
          <a:xfrm>
            <a:off x="6071616" y="2834640"/>
            <a:ext cx="2743200" cy="118872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6181344" y="2907792"/>
            <a:ext cx="2523744" cy="1078992"/>
          </a:xfrm>
          <a:prstGeom prst="rect">
            <a:avLst/>
          </a:prstGeom>
          <a:noFill/>
        </p:spPr>
        <p:txBody>
          <a:bodyPr wrap="square" lIns="36576" rIns="36576" tIns="18288" bIns="18288" anchor="t">
            <a:spAutoFit/>
          </a:bodyPr>
          <a:lstStyle/>
          <a:p>
            <a:pPr algn="l">
              <a:spcAft>
                <a:spcPts val="200"/>
              </a:spcAft>
            </a:pPr>
            <a:r>
              <a:rPr sz="900" b="1" i="0">
                <a:solidFill>
                  <a:srgbClr val="1497D4"/>
                </a:solidFill>
                <a:latin typeface="Arial"/>
              </a:rPr>
              <a:t>04</a:t>
            </a:r>
          </a:p>
          <a:p>
            <a:pPr algn="l">
              <a:spcAft>
                <a:spcPts val="200"/>
              </a:spcAft>
            </a:pPr>
            <a:r>
              <a:rPr sz="1300" b="1" i="0">
                <a:solidFill>
                  <a:srgbClr val="0B1320"/>
                </a:solidFill>
                <a:latin typeface="Manrope"/>
              </a:rPr>
              <a:t>Drafted work order</a:t>
            </a:r>
          </a:p>
          <a:p>
            <a:pPr algn="l">
              <a:spcAft>
                <a:spcPts val="200"/>
              </a:spcAft>
            </a:pPr>
            <a:r>
              <a:rPr sz="1000" b="0" i="0">
                <a:solidFill>
                  <a:srgbClr val="3F4A5A"/>
                </a:solidFill>
                <a:latin typeface="Arial"/>
              </a:rPr>
              <a:t>Cited fix, "Do NOT" list, parts at risk, suggested technician</a:t>
            </a:r>
          </a:p>
        </p:txBody>
      </p:sp>
      <p:sp>
        <p:nvSpPr>
          <p:cNvPr id="90" name="Step 05"/>
          <p:cNvSpPr/>
          <p:nvPr/>
        </p:nvSpPr>
        <p:spPr>
          <a:xfrm>
            <a:off x="3200400" y="2834640"/>
            <a:ext cx="2743200" cy="1188720"/>
          </a:xfrm>
          <a:prstGeom prst="roundRect">
            <a:avLst>
              <a:gd name="adj" fmla="val 8000"/>
            </a:avLst>
          </a:prstGeom>
          <a:solidFill>
            <a:srgbClr val="EEF4FB"/>
          </a:solidFill>
          <a:ln w="12700">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3310128" y="2907792"/>
            <a:ext cx="2523744" cy="1078992"/>
          </a:xfrm>
          <a:prstGeom prst="rect">
            <a:avLst/>
          </a:prstGeom>
          <a:noFill/>
        </p:spPr>
        <p:txBody>
          <a:bodyPr wrap="square" lIns="36576" rIns="36576" tIns="18288" bIns="18288" anchor="t">
            <a:spAutoFit/>
          </a:bodyPr>
          <a:lstStyle/>
          <a:p>
            <a:pPr algn="l">
              <a:spcAft>
                <a:spcPts val="200"/>
              </a:spcAft>
            </a:pPr>
            <a:r>
              <a:rPr sz="900" b="1" i="0">
                <a:solidFill>
                  <a:srgbClr val="1497D4"/>
                </a:solidFill>
                <a:latin typeface="Arial"/>
              </a:rPr>
              <a:t>05</a:t>
            </a:r>
          </a:p>
          <a:p>
            <a:pPr algn="l">
              <a:spcAft>
                <a:spcPts val="200"/>
              </a:spcAft>
            </a:pPr>
            <a:r>
              <a:rPr sz="1300" b="1" i="0">
                <a:solidFill>
                  <a:srgbClr val="0B1320"/>
                </a:solidFill>
                <a:latin typeface="Manrope"/>
              </a:rPr>
              <a:t>Human approves</a:t>
            </a:r>
          </a:p>
          <a:p>
            <a:pPr algn="l">
              <a:spcAft>
                <a:spcPts val="200"/>
              </a:spcAft>
            </a:pPr>
            <a:r>
              <a:rPr sz="1000" b="0" i="0">
                <a:solidFill>
                  <a:srgbClr val="3F4A5A"/>
                </a:solidFill>
                <a:latin typeface="Arial"/>
              </a:rPr>
              <a:t>The agent can draft but never approve; agent approvals are refused</a:t>
            </a:r>
          </a:p>
        </p:txBody>
      </p:sp>
      <p:sp>
        <p:nvSpPr>
          <p:cNvPr id="92" name="Step 06"/>
          <p:cNvSpPr/>
          <p:nvPr/>
        </p:nvSpPr>
        <p:spPr>
          <a:xfrm>
            <a:off x="329184" y="2834640"/>
            <a:ext cx="2743200" cy="1188720"/>
          </a:xfrm>
          <a:prstGeom prst="roundRect">
            <a:avLst>
              <a:gd name="adj" fmla="val 8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438912" y="2907792"/>
            <a:ext cx="2523744" cy="1078992"/>
          </a:xfrm>
          <a:prstGeom prst="rect">
            <a:avLst/>
          </a:prstGeom>
          <a:noFill/>
        </p:spPr>
        <p:txBody>
          <a:bodyPr wrap="square" lIns="36576" rIns="36576" tIns="18288" bIns="18288" anchor="t">
            <a:spAutoFit/>
          </a:bodyPr>
          <a:lstStyle/>
          <a:p>
            <a:pPr algn="l">
              <a:spcAft>
                <a:spcPts val="200"/>
              </a:spcAft>
            </a:pPr>
            <a:r>
              <a:rPr sz="900" b="1" i="0">
                <a:solidFill>
                  <a:srgbClr val="0B1F3A"/>
                </a:solidFill>
                <a:latin typeface="Arial"/>
              </a:rPr>
              <a:t>06</a:t>
            </a:r>
          </a:p>
          <a:p>
            <a:pPr algn="l">
              <a:spcAft>
                <a:spcPts val="200"/>
              </a:spcAft>
            </a:pPr>
            <a:r>
              <a:rPr sz="1300" b="1" i="0">
                <a:solidFill>
                  <a:srgbClr val="0B1320"/>
                </a:solidFill>
                <a:latin typeface="Manrope"/>
              </a:rPr>
              <a:t>Close job → new card</a:t>
            </a:r>
          </a:p>
          <a:p>
            <a:pPr algn="l">
              <a:spcAft>
                <a:spcPts val="200"/>
              </a:spcAft>
            </a:pPr>
            <a:r>
              <a:rPr sz="1000" b="0" i="0">
                <a:solidFill>
                  <a:srgbClr val="0B1320"/>
                </a:solidFill>
                <a:latin typeface="Arial"/>
              </a:rPr>
              <a:t>The technician's closing note becomes knowledge (SUPERSEDES the failed fix)</a:t>
            </a:r>
          </a:p>
        </p:txBody>
      </p:sp>
      <p:cxnSp>
        <p:nvCxnSpPr>
          <p:cNvPr id="94" name="Connector 93"/>
          <p:cNvCxnSpPr/>
          <p:nvPr/>
        </p:nvCxnSpPr>
        <p:spPr>
          <a:xfrm>
            <a:off x="3072384" y="1920240"/>
            <a:ext cx="128016" cy="0"/>
          </a:xfrm>
          <a:prstGeom prst="line">
            <a:avLst/>
          </a:prstGeom>
          <a:ln w="19050">
            <a:solidFill>
              <a:srgbClr val="0A6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943600" y="1920240"/>
            <a:ext cx="128016" cy="0"/>
          </a:xfrm>
          <a:prstGeom prst="line">
            <a:avLst/>
          </a:prstGeom>
          <a:ln w="19050">
            <a:solidFill>
              <a:srgbClr val="0A6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7443216" y="2514600"/>
            <a:ext cx="0" cy="320040"/>
          </a:xfrm>
          <a:prstGeom prst="line">
            <a:avLst/>
          </a:prstGeom>
          <a:ln w="19050">
            <a:solidFill>
              <a:srgbClr val="0A6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a:off x="5943600" y="3429000"/>
            <a:ext cx="128016" cy="0"/>
          </a:xfrm>
          <a:prstGeom prst="line">
            <a:avLst/>
          </a:prstGeom>
          <a:ln w="19050">
            <a:solidFill>
              <a:srgbClr val="0A6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a:off x="3072384" y="3429000"/>
            <a:ext cx="128016" cy="0"/>
          </a:xfrm>
          <a:prstGeom prst="line">
            <a:avLst/>
          </a:prstGeom>
          <a:ln w="19050">
            <a:solidFill>
              <a:srgbClr val="0A63C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700784" y="2514600"/>
            <a:ext cx="0" cy="320040"/>
          </a:xfrm>
          <a:prstGeom prst="line">
            <a:avLst/>
          </a:prstGeom>
          <a:ln w="25400">
            <a:solidFill>
              <a:srgbClr val="C2410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0" name="Gotcha callout"/>
          <p:cNvSpPr/>
          <p:nvPr/>
        </p:nvSpPr>
        <p:spPr>
          <a:xfrm>
            <a:off x="329184" y="4187952"/>
            <a:ext cx="8485632" cy="621792"/>
          </a:xfrm>
          <a:prstGeom prst="roundRect">
            <a:avLst>
              <a:gd name="adj" fmla="val 8000"/>
            </a:avLst>
          </a:prstGeom>
          <a:solidFill>
            <a:srgbClr val="FD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438912" y="4233672"/>
            <a:ext cx="8275320" cy="548640"/>
          </a:xfrm>
          <a:prstGeom prst="rect">
            <a:avLst/>
          </a:prstGeom>
          <a:noFill/>
        </p:spPr>
        <p:txBody>
          <a:bodyPr wrap="square" lIns="36576" rIns="36576" tIns="18288" bIns="18288" anchor="ctr">
            <a:spAutoFit/>
          </a:bodyPr>
          <a:lstStyle/>
          <a:p>
            <a:pPr algn="l">
              <a:spcAft>
                <a:spcPts val="200"/>
              </a:spcAft>
            </a:pPr>
            <a:r>
              <a:rPr sz="900" b="1" i="0">
                <a:solidFill>
                  <a:srgbClr val="C2410C"/>
                </a:solidFill>
                <a:latin typeface="Arial"/>
              </a:rPr>
              <a:t>The gotcha the graph found: </a:t>
            </a:r>
            <a:r>
              <a:rPr sz="1000" b="0" i="0">
                <a:solidFill>
                  <a:srgbClr val="0B1320"/>
                </a:solidFill>
                <a:latin typeface="Arial"/>
              </a:rPr>
              <a:t>the junior's July note says "trial run ok". Only the link to the work order 9 days later shows that the bearing-only fix failed, so Plant Brain warns against repeating it.</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7" title="Framewsxexexe 233.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80" name="Title"/>
          <p:cNvSpPr txBox="1"/>
          <p:nvPr/>
        </p:nvSpPr>
        <p:spPr>
          <a:xfrm>
            <a:off x="329184" y="566928"/>
            <a:ext cx="8503920" cy="384048"/>
          </a:xfrm>
          <a:prstGeom prst="rect">
            <a:avLst/>
          </a:prstGeom>
          <a:noFill/>
        </p:spPr>
        <p:txBody>
          <a:bodyPr wrap="square" lIns="36576" rIns="36576" tIns="18288" bIns="18288" anchor="t">
            <a:spAutoFit/>
          </a:bodyPr>
          <a:lstStyle/>
          <a:p>
            <a:pPr algn="l">
              <a:spcAft>
                <a:spcPts val="200"/>
              </a:spcAft>
            </a:pPr>
            <a:r>
              <a:rPr sz="2000" b="1" i="0">
                <a:solidFill>
                  <a:srgbClr val="0B1320"/>
                </a:solidFill>
                <a:latin typeface="Manrope"/>
              </a:rPr>
              <a:t>The product: Streamlit in Snowflake, five pages</a:t>
            </a:r>
          </a:p>
        </p:txBody>
      </p:sp>
      <p:sp>
        <p:nvSpPr>
          <p:cNvPr id="81" name="Subtitle"/>
          <p:cNvSpPr txBox="1"/>
          <p:nvPr/>
        </p:nvSpPr>
        <p:spPr>
          <a:xfrm>
            <a:off x="329184" y="914400"/>
            <a:ext cx="8503920" cy="274320"/>
          </a:xfrm>
          <a:prstGeom prst="rect">
            <a:avLst/>
          </a:prstGeom>
          <a:noFill/>
        </p:spPr>
        <p:txBody>
          <a:bodyPr wrap="square" lIns="36576" rIns="36576" tIns="18288" bIns="18288" anchor="t">
            <a:spAutoFit/>
          </a:bodyPr>
          <a:lstStyle/>
          <a:p>
            <a:pPr algn="l">
              <a:spcAft>
                <a:spcPts val="200"/>
              </a:spcAft>
            </a:pPr>
            <a:r>
              <a:rPr sz="1050" b="0" i="0">
                <a:solidFill>
                  <a:srgbClr val="3F4A5A"/>
                </a:solidFill>
                <a:latin typeface="Arial"/>
              </a:rPr>
              <a:t>Real screens from the built app (local mock backend, same code as Snowflake).</a:t>
            </a:r>
          </a:p>
        </p:txBody>
      </p:sp>
      <p:pic>
        <p:nvPicPr>
          <p:cNvPr id="82" name="Picture 81" descr="crop_brain.png"/>
          <p:cNvPicPr>
            <a:picLocks noChangeAspect="1"/>
          </p:cNvPicPr>
          <p:nvPr/>
        </p:nvPicPr>
        <p:blipFill>
          <a:blip r:embed="rId2"/>
          <a:stretch>
            <a:fillRect/>
          </a:stretch>
        </p:blipFill>
        <p:spPr>
          <a:xfrm>
            <a:off x="329184" y="1298448"/>
            <a:ext cx="4169663" cy="2319285"/>
          </a:xfrm>
          <a:prstGeom prst="rect">
            <a:avLst/>
          </a:prstGeom>
          <a:ln w="9525">
            <a:solidFill>
              <a:srgbClr val="C9D6E6"/>
            </a:solidFill>
          </a:ln>
        </p:spPr>
      </p:pic>
      <p:sp>
        <p:nvSpPr>
          <p:cNvPr id="83" name="TextBox 82"/>
          <p:cNvSpPr txBox="1"/>
          <p:nvPr/>
        </p:nvSpPr>
        <p:spPr>
          <a:xfrm>
            <a:off x="329184" y="3672597"/>
            <a:ext cx="4169663" cy="365760"/>
          </a:xfrm>
          <a:prstGeom prst="rect">
            <a:avLst/>
          </a:prstGeom>
          <a:noFill/>
        </p:spPr>
        <p:txBody>
          <a:bodyPr wrap="square" lIns="36576" rIns="36576" tIns="18288" bIns="18288" anchor="t">
            <a:spAutoFit/>
          </a:bodyPr>
          <a:lstStyle/>
          <a:p>
            <a:pPr algn="l">
              <a:spcAft>
                <a:spcPts val="200"/>
              </a:spcAft>
            </a:pPr>
            <a:r>
              <a:rPr sz="800" b="0" i="0">
                <a:solidFill>
                  <a:srgbClr val="3F4A5A"/>
                </a:solidFill>
                <a:latin typeface="Arial"/>
              </a:rPr>
              <a:t>Anomaly → Brain: today's P3 trace (orange) over past failures, failure window and the 9-day gotcha</a:t>
            </a:r>
          </a:p>
        </p:txBody>
      </p:sp>
      <p:pic>
        <p:nvPicPr>
          <p:cNvPr id="84" name="Picture 83" descr="crop_draft.png"/>
          <p:cNvPicPr>
            <a:picLocks noChangeAspect="1"/>
          </p:cNvPicPr>
          <p:nvPr/>
        </p:nvPicPr>
        <p:blipFill>
          <a:blip r:embed="rId4"/>
          <a:stretch>
            <a:fillRect/>
          </a:stretch>
        </p:blipFill>
        <p:spPr>
          <a:xfrm>
            <a:off x="4645152" y="1298448"/>
            <a:ext cx="4169663" cy="2416673"/>
          </a:xfrm>
          <a:prstGeom prst="rect">
            <a:avLst/>
          </a:prstGeom>
          <a:ln w="9525">
            <a:solidFill>
              <a:srgbClr val="C9D6E6"/>
            </a:solidFill>
          </a:ln>
        </p:spPr>
      </p:pic>
      <p:sp>
        <p:nvSpPr>
          <p:cNvPr id="85" name="TextBox 84"/>
          <p:cNvSpPr txBox="1"/>
          <p:nvPr/>
        </p:nvSpPr>
        <p:spPr>
          <a:xfrm>
            <a:off x="4645152" y="3769984"/>
            <a:ext cx="4169663" cy="365760"/>
          </a:xfrm>
          <a:prstGeom prst="rect">
            <a:avLst/>
          </a:prstGeom>
          <a:noFill/>
        </p:spPr>
        <p:txBody>
          <a:bodyPr wrap="square" lIns="36576" rIns="36576" tIns="18288" bIns="18288" anchor="t">
            <a:spAutoFit/>
          </a:bodyPr>
          <a:lstStyle/>
          <a:p>
            <a:pPr algn="l">
              <a:spcAft>
                <a:spcPts val="200"/>
              </a:spcAft>
            </a:pPr>
            <a:r>
              <a:rPr sz="800" b="0" i="0">
                <a:solidFill>
                  <a:srgbClr val="3F4A5A"/>
                </a:solidFill>
                <a:latin typeface="Arial"/>
              </a:rPr>
              <a:t>Work Order Approval: cited fix, "Do NOT" list, parts at risk, Ravi suggested; a human approves</a:t>
            </a:r>
          </a:p>
        </p:txBody>
      </p:sp>
      <p:sp>
        <p:nvSpPr>
          <p:cNvPr id="86" name="TextBox 85"/>
          <p:cNvSpPr txBox="1"/>
          <p:nvPr/>
        </p:nvSpPr>
        <p:spPr>
          <a:xfrm>
            <a:off x="329184" y="4498848"/>
            <a:ext cx="8503920" cy="365760"/>
          </a:xfrm>
          <a:prstGeom prst="rect">
            <a:avLst/>
          </a:prstGeom>
          <a:noFill/>
        </p:spPr>
        <p:txBody>
          <a:bodyPr wrap="square" lIns="36576" rIns="36576" tIns="18288" bIns="18288" anchor="t">
            <a:spAutoFit/>
          </a:bodyPr>
          <a:lstStyle/>
          <a:p>
            <a:pPr algn="l">
              <a:spcAft>
                <a:spcPts val="200"/>
              </a:spcAft>
            </a:pPr>
            <a:r>
              <a:rPr sz="850" b="1" i="0">
                <a:solidFill>
                  <a:srgbClr val="0A63C9"/>
                </a:solidFill>
                <a:latin typeface="Arial"/>
              </a:rPr>
              <a:t>Also: </a:t>
            </a:r>
            <a:r>
              <a:rPr sz="850" b="0" i="0">
                <a:solidFill>
                  <a:srgbClr val="0B1320"/>
                </a:solidFill>
                <a:latin typeface="Arial"/>
              </a:rPr>
              <a:t>Command Center (OEE by line, active anomalies) · Close Job (closing note → new card + graph links) · Ask the Plant (cited answers, verified-query analytics, refusals).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7" title="Framewsxexexe 233.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80" name="Title"/>
          <p:cNvSpPr txBox="1"/>
          <p:nvPr/>
        </p:nvSpPr>
        <p:spPr>
          <a:xfrm>
            <a:off x="329184" y="566928"/>
            <a:ext cx="8503920" cy="384048"/>
          </a:xfrm>
          <a:prstGeom prst="rect">
            <a:avLst/>
          </a:prstGeom>
          <a:noFill/>
        </p:spPr>
        <p:txBody>
          <a:bodyPr wrap="square" lIns="36576" rIns="36576" tIns="18288" bIns="18288" anchor="t">
            <a:spAutoFit/>
          </a:bodyPr>
          <a:lstStyle/>
          <a:p>
            <a:pPr algn="l">
              <a:spcAft>
                <a:spcPts val="200"/>
              </a:spcAft>
            </a:pPr>
            <a:r>
              <a:rPr sz="2000" b="1" i="0">
                <a:solidFill>
                  <a:srgbClr val="0B1320"/>
                </a:solidFill>
                <a:latin typeface="Manrope"/>
              </a:rPr>
              <a:t>Evaluation: Plant Brain vs a naive baseline</a:t>
            </a:r>
          </a:p>
        </p:txBody>
      </p:sp>
      <p:sp>
        <p:nvSpPr>
          <p:cNvPr id="81" name="Subtitle"/>
          <p:cNvSpPr txBox="1"/>
          <p:nvPr/>
        </p:nvSpPr>
        <p:spPr>
          <a:xfrm>
            <a:off x="329184" y="914400"/>
            <a:ext cx="8503920" cy="274320"/>
          </a:xfrm>
          <a:prstGeom prst="rect">
            <a:avLst/>
          </a:prstGeom>
          <a:noFill/>
        </p:spPr>
        <p:txBody>
          <a:bodyPr wrap="square" lIns="36576" rIns="36576" tIns="18288" bIns="18288" anchor="t">
            <a:spAutoFit/>
          </a:bodyPr>
          <a:lstStyle/>
          <a:p>
            <a:pPr algn="l">
              <a:spcAft>
                <a:spcPts val="200"/>
              </a:spcAft>
            </a:pPr>
            <a:r>
              <a:rPr sz="1050" b="0" i="0">
                <a:solidFill>
                  <a:srgbClr val="3F4A5A"/>
                </a:solidFill>
                <a:latin typeface="Arial"/>
              </a:rPr>
              <a:t>25 golden questions + golden-anomaly retrieval. Baseline = keyword search over raw notes (no cards, graph, verified queries or guard).</a:t>
            </a:r>
          </a:p>
        </p:txBody>
      </p:sp>
      <p:graphicFrame>
        <p:nvGraphicFramePr>
          <p:cNvPr id="82" name="Eval chart"/>
          <p:cNvGraphicFramePr>
            <a:graphicFrameLocks noGrp="1"/>
          </p:cNvGraphicFramePr>
          <p:nvPr/>
        </p:nvGraphicFramePr>
        <p:xfrm>
          <a:off x="329184" y="1298448"/>
          <a:ext cx="5120640" cy="3246120"/>
        </p:xfrm>
        <a:graphic>
          <a:graphicData uri="http://schemas.openxmlformats.org/drawingml/2006/chart">
            <c:chart r:id="rId2"/>
          </a:graphicData>
        </a:graphic>
      </p:graphicFrame>
      <p:sp>
        <p:nvSpPr>
          <p:cNvPr id="83" name="Eval notes"/>
          <p:cNvSpPr/>
          <p:nvPr/>
        </p:nvSpPr>
        <p:spPr>
          <a:xfrm>
            <a:off x="5669280" y="1298448"/>
            <a:ext cx="3145536" cy="3246120"/>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5779008" y="1371600"/>
            <a:ext cx="2926080" cy="3154680"/>
          </a:xfrm>
          <a:prstGeom prst="rect">
            <a:avLst/>
          </a:prstGeom>
          <a:noFill/>
        </p:spPr>
        <p:txBody>
          <a:bodyPr wrap="square" lIns="36576" rIns="36576" tIns="18288" bIns="18288" anchor="t">
            <a:spAutoFit/>
          </a:bodyPr>
          <a:lstStyle/>
          <a:p>
            <a:pPr algn="l">
              <a:spcAft>
                <a:spcPts val="700"/>
              </a:spcAft>
            </a:pPr>
            <a:r>
              <a:rPr sz="1100" b="1" i="0">
                <a:solidFill>
                  <a:srgbClr val="0A63C9"/>
                </a:solidFill>
                <a:latin typeface="Arial"/>
              </a:rPr>
              <a:t>Overall: 25/25 vs 10/25</a:t>
            </a:r>
          </a:p>
          <a:p>
            <a:pPr algn="l">
              <a:spcAft>
                <a:spcPts val="700"/>
              </a:spcAft>
            </a:pPr>
            <a:r>
              <a:rPr sz="950" b="0" i="0">
                <a:solidFill>
                  <a:srgbClr val="0B1320"/>
                </a:solidFill>
                <a:latin typeface="Arial"/>
              </a:rPr>
              <a:t>• Golden anomaly hit@3: both find HN-0163, but only Plant Brain ranks Ravi's explicit fix first</a:t>
            </a:r>
          </a:p>
          <a:p>
            <a:pPr algn="l">
              <a:spcAft>
                <a:spcPts val="700"/>
              </a:spcAft>
            </a:pPr>
            <a:r>
              <a:rPr sz="950" b="0" i="0">
                <a:solidFill>
                  <a:srgbClr val="0B1320"/>
                </a:solidFill>
                <a:latin typeface="Arial"/>
              </a:rPr>
              <a:t>• Citations: 20/20 answerable answers cite card ids or a verified query</a:t>
            </a:r>
          </a:p>
          <a:p>
            <a:pPr algn="l">
              <a:spcAft>
                <a:spcPts val="700"/>
              </a:spcAft>
            </a:pPr>
            <a:r>
              <a:rPr sz="1000" b="1" i="0">
                <a:solidFill>
                  <a:srgbClr val="C2410C"/>
                </a:solidFill>
                <a:latin typeface="Arial"/>
              </a:rPr>
              <a:t>Honest caveats</a:t>
            </a:r>
          </a:p>
          <a:p>
            <a:pPr algn="l">
              <a:spcAft>
                <a:spcPts val="700"/>
              </a:spcAft>
            </a:pPr>
            <a:r>
              <a:rPr sz="950" b="0" i="0">
                <a:solidFill>
                  <a:srgbClr val="0B1320"/>
                </a:solidFill>
                <a:latin typeface="Arial"/>
              </a:rPr>
              <a:t>• Local mock run without an LLM: measures retrieval, routing, graph and guard, not fluency</a:t>
            </a:r>
          </a:p>
          <a:p>
            <a:pPr algn="l">
              <a:spcAft>
                <a:spcPts val="700"/>
              </a:spcAft>
            </a:pPr>
            <a:r>
              <a:rPr sz="950" b="0" i="0">
                <a:solidFill>
                  <a:srgbClr val="0B1320"/>
                </a:solidFill>
                <a:latin typeface="Arial"/>
              </a:rPr>
              <a:t>• Tuned and tested on the same synthetic scenario we designed</a:t>
            </a:r>
          </a:p>
          <a:p>
            <a:pPr algn="l">
              <a:spcAft>
                <a:spcPts val="700"/>
              </a:spcAft>
            </a:pPr>
            <a:r>
              <a:rPr sz="950" b="0" i="0">
                <a:solidFill>
                  <a:srgbClr val="0B1320"/>
                </a:solidFill>
                <a:latin typeface="Arial"/>
              </a:rPr>
              <a:t>• First run 22/25: the eval caught 3 bugs, fixed and logged in coco/PROMPTS.md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7" title="Framewsxexexe 233.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80" name="Title"/>
          <p:cNvSpPr txBox="1"/>
          <p:nvPr/>
        </p:nvSpPr>
        <p:spPr>
          <a:xfrm>
            <a:off x="329184" y="566928"/>
            <a:ext cx="8503920" cy="384048"/>
          </a:xfrm>
          <a:prstGeom prst="rect">
            <a:avLst/>
          </a:prstGeom>
          <a:noFill/>
        </p:spPr>
        <p:txBody>
          <a:bodyPr wrap="square" lIns="36576" rIns="36576" tIns="18288" bIns="18288" anchor="t">
            <a:spAutoFit/>
          </a:bodyPr>
          <a:lstStyle/>
          <a:p>
            <a:pPr algn="l">
              <a:spcAft>
                <a:spcPts val="200"/>
              </a:spcAft>
            </a:pPr>
            <a:r>
              <a:rPr sz="2000" b="1" i="0">
                <a:solidFill>
                  <a:srgbClr val="0B1320"/>
                </a:solidFill>
                <a:latin typeface="Manrope"/>
              </a:rPr>
              <a:t>How it's built: CoCo CLI + Snowflake-native services</a:t>
            </a:r>
          </a:p>
        </p:txBody>
      </p:sp>
      <p:sp>
        <p:nvSpPr>
          <p:cNvPr id="81" name="Subtitle"/>
          <p:cNvSpPr txBox="1"/>
          <p:nvPr/>
        </p:nvSpPr>
        <p:spPr>
          <a:xfrm>
            <a:off x="329184" y="914400"/>
            <a:ext cx="8503920" cy="274320"/>
          </a:xfrm>
          <a:prstGeom prst="rect">
            <a:avLst/>
          </a:prstGeom>
          <a:noFill/>
        </p:spPr>
        <p:txBody>
          <a:bodyPr wrap="square" lIns="36576" rIns="36576" tIns="18288" bIns="18288" anchor="t">
            <a:spAutoFit/>
          </a:bodyPr>
          <a:lstStyle/>
          <a:p>
            <a:pPr algn="l">
              <a:spcAft>
                <a:spcPts val="200"/>
              </a:spcAft>
            </a:pPr>
            <a:r>
              <a:rPr sz="1050" b="0" i="0">
                <a:solidFill>
                  <a:srgbClr val="3F4A5A"/>
                </a:solidFill>
                <a:latin typeface="Arial"/>
              </a:rPr>
              <a:t>Prompts, skills and guard rails are in the repo, so judges can see exactly how CoCo was used.</a:t>
            </a:r>
          </a:p>
        </p:txBody>
      </p:sp>
      <p:sp>
        <p:nvSpPr>
          <p:cNvPr id="82" name="CoCo panel"/>
          <p:cNvSpPr/>
          <p:nvPr/>
        </p:nvSpPr>
        <p:spPr>
          <a:xfrm>
            <a:off x="329184" y="1298448"/>
            <a:ext cx="4160520" cy="3520440"/>
          </a:xfrm>
          <a:prstGeom prst="roundRect">
            <a:avLst>
              <a:gd name="adj" fmla="val 8000"/>
            </a:avLst>
          </a:prstGeom>
          <a:solidFill>
            <a:srgbClr val="EE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438912" y="1389888"/>
            <a:ext cx="3950208" cy="3383280"/>
          </a:xfrm>
          <a:prstGeom prst="rect">
            <a:avLst/>
          </a:prstGeom>
          <a:noFill/>
        </p:spPr>
        <p:txBody>
          <a:bodyPr wrap="square" lIns="36576" rIns="36576" tIns="18288" bIns="18288" anchor="t">
            <a:spAutoFit/>
          </a:bodyPr>
          <a:lstStyle/>
          <a:p>
            <a:pPr algn="l">
              <a:spcAft>
                <a:spcPts val="900"/>
              </a:spcAft>
            </a:pPr>
            <a:r>
              <a:rPr sz="1150" b="1" i="0">
                <a:solidFill>
                  <a:srgbClr val="0A63C9"/>
                </a:solidFill>
                <a:latin typeface="Manrope"/>
              </a:rPr>
              <a:t>How CoCo CLI was used</a:t>
            </a:r>
          </a:p>
          <a:p>
            <a:pPr algn="l">
              <a:spcAft>
                <a:spcPts val="900"/>
              </a:spcAft>
            </a:pPr>
            <a:r>
              <a:rPr sz="1000" b="1" i="0">
                <a:solidFill>
                  <a:srgbClr val="0B1320"/>
                </a:solidFill>
                <a:latin typeface="Arial"/>
              </a:rPr>
              <a:t>Skills: </a:t>
            </a:r>
            <a:r>
              <a:rPr sz="1000" b="0" i="0">
                <a:solidFill>
                  <a:srgbClr val="0B1320"/>
                </a:solidFill>
                <a:latin typeface="Arial"/>
              </a:rPr>
              <a:t>card-extractor and work-order-drafter encode the rules the agent and the procedures follow</a:t>
            </a:r>
          </a:p>
          <a:p>
            <a:pPr algn="l">
              <a:spcAft>
                <a:spcPts val="900"/>
              </a:spcAft>
            </a:pPr>
            <a:r>
              <a:rPr sz="1000" b="1" i="0">
                <a:solidFill>
                  <a:srgbClr val="0B1320"/>
                </a:solidFill>
                <a:latin typeface="Arial"/>
              </a:rPr>
              <a:t>Prompt log: </a:t>
            </a:r>
            <a:r>
              <a:rPr sz="1000" b="0" i="0">
                <a:solidFill>
                  <a:srgbClr val="0B1320"/>
                </a:solidFill>
                <a:latin typeface="Arial"/>
              </a:rPr>
              <a:t>coco/PROMPTS.md records each phase, what was produced, and every bug our own checks caught</a:t>
            </a:r>
          </a:p>
          <a:p>
            <a:pPr algn="l">
              <a:spcAft>
                <a:spcPts val="900"/>
              </a:spcAft>
            </a:pPr>
            <a:r>
              <a:rPr sz="1000" b="1" i="0">
                <a:solidFill>
                  <a:srgbClr val="0B1320"/>
                </a:solidFill>
                <a:latin typeface="Arial"/>
              </a:rPr>
              <a:t>Guard rails: </a:t>
            </a:r>
            <a:r>
              <a:rPr sz="1000" b="0" i="0">
                <a:solidFill>
                  <a:srgbClr val="0B1320"/>
                </a:solidFill>
                <a:latin typeface="Arial"/>
              </a:rPr>
              <a:t>AGENTS.md: synthetic data only, GA features, seed=42, human approval, cost discipline</a:t>
            </a:r>
          </a:p>
          <a:p>
            <a:pPr algn="l">
              <a:spcAft>
                <a:spcPts val="900"/>
              </a:spcAft>
            </a:pPr>
            <a:r>
              <a:rPr sz="1000" b="1" i="0">
                <a:solidFill>
                  <a:srgbClr val="0B1320"/>
                </a:solidFill>
                <a:latin typeface="Arial"/>
              </a:rPr>
              <a:t>Verification: </a:t>
            </a:r>
            <a:r>
              <a:rPr sz="1000" b="0" i="0">
                <a:solidFill>
                  <a:srgbClr val="0B1320"/>
                </a:solidFill>
                <a:latin typeface="Arial"/>
              </a:rPr>
              <a:t>generator --verify, 25 PASS/FAIL checks, smoke test, headless browser run, eval</a:t>
            </a:r>
          </a:p>
          <a:p>
            <a:pPr algn="l">
              <a:spcAft>
                <a:spcPts val="900"/>
              </a:spcAft>
            </a:pPr>
            <a:r>
              <a:rPr sz="1000" b="1" i="0">
                <a:solidFill>
                  <a:srgbClr val="0B1320"/>
                </a:solidFill>
                <a:latin typeface="Arial"/>
              </a:rPr>
              <a:t>Repo: </a:t>
            </a:r>
            <a:r>
              <a:rPr sz="1000" b="0" i="0">
                <a:solidFill>
                  <a:srgbClr val="0A63C9"/>
                </a:solidFill>
                <a:latin typeface="Arial"/>
              </a:rPr>
              <a:t>[repo link]  (public before submission)</a:t>
            </a:r>
          </a:p>
          <a:p>
            <a:pPr algn="l">
              <a:spcAft>
                <a:spcPts val="900"/>
              </a:spcAft>
            </a:pPr>
            <a:r>
              <a:rPr sz="1000" b="1" i="0">
                <a:solidFill>
                  <a:srgbClr val="0B1320"/>
                </a:solidFill>
                <a:latin typeface="Arial"/>
              </a:rPr>
              <a:t>Run it: </a:t>
            </a:r>
            <a:r>
              <a:rPr sz="1000" b="0" i="0">
                <a:solidFill>
                  <a:srgbClr val="0B1320"/>
                </a:solidFill>
                <a:latin typeface="Arial"/>
              </a:rPr>
              <a:t>make setup test app (local, 5 min) · scripts/deploy_snowflake.py · JUMPSTART.md</a:t>
            </a:r>
          </a:p>
        </p:txBody>
      </p:sp>
      <p:sp>
        <p:nvSpPr>
          <p:cNvPr id="84" name="Feature Cortex AI_COMPLETE"/>
          <p:cNvSpPr/>
          <p:nvPr/>
        </p:nvSpPr>
        <p:spPr>
          <a:xfrm>
            <a:off x="4663440" y="1298448"/>
            <a:ext cx="2011680" cy="804672"/>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4754879" y="1371600"/>
            <a:ext cx="1828800" cy="713232"/>
          </a:xfrm>
          <a:prstGeom prst="rect">
            <a:avLst/>
          </a:prstGeom>
          <a:noFill/>
        </p:spPr>
        <p:txBody>
          <a:bodyPr wrap="square" lIns="36576" rIns="36576" tIns="18288" bIns="18288" anchor="t">
            <a:spAutoFit/>
          </a:bodyPr>
          <a:lstStyle/>
          <a:p>
            <a:pPr algn="l">
              <a:spcAft>
                <a:spcPts val="200"/>
              </a:spcAft>
            </a:pPr>
            <a:r>
              <a:rPr sz="1050" b="1" i="0">
                <a:solidFill>
                  <a:srgbClr val="0B1320"/>
                </a:solidFill>
                <a:latin typeface="Arial"/>
              </a:rPr>
              <a:t>Cortex AI_COMPLETE</a:t>
            </a:r>
          </a:p>
          <a:p>
            <a:pPr algn="l">
              <a:spcAft>
                <a:spcPts val="200"/>
              </a:spcAft>
            </a:pPr>
            <a:r>
              <a:rPr sz="900" b="0" i="0">
                <a:solidFill>
                  <a:srgbClr val="3F4A5A"/>
                </a:solidFill>
                <a:latin typeface="Arial"/>
              </a:rPr>
              <a:t>JSON-schema card extraction, incremental</a:t>
            </a:r>
          </a:p>
        </p:txBody>
      </p:sp>
      <p:sp>
        <p:nvSpPr>
          <p:cNvPr id="86" name="Feature Cortex Search"/>
          <p:cNvSpPr/>
          <p:nvPr/>
        </p:nvSpPr>
        <p:spPr>
          <a:xfrm>
            <a:off x="6757416" y="1298448"/>
            <a:ext cx="2011680" cy="804672"/>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6848855" y="1371600"/>
            <a:ext cx="1828800" cy="713232"/>
          </a:xfrm>
          <a:prstGeom prst="rect">
            <a:avLst/>
          </a:prstGeom>
          <a:noFill/>
        </p:spPr>
        <p:txBody>
          <a:bodyPr wrap="square" lIns="36576" rIns="36576" tIns="18288" bIns="18288" anchor="t">
            <a:spAutoFit/>
          </a:bodyPr>
          <a:lstStyle/>
          <a:p>
            <a:pPr algn="l">
              <a:spcAft>
                <a:spcPts val="200"/>
              </a:spcAft>
            </a:pPr>
            <a:r>
              <a:rPr sz="1050" b="1" i="0">
                <a:solidFill>
                  <a:srgbClr val="0B1320"/>
                </a:solidFill>
                <a:latin typeface="Arial"/>
              </a:rPr>
              <a:t>Cortex Search</a:t>
            </a:r>
          </a:p>
          <a:p>
            <a:pPr algn="l">
              <a:spcAft>
                <a:spcPts val="200"/>
              </a:spcAft>
            </a:pPr>
            <a:r>
              <a:rPr sz="900" b="0" i="0">
                <a:solidFill>
                  <a:srgbClr val="3F4A5A"/>
                </a:solidFill>
                <a:latin typeface="Arial"/>
              </a:rPr>
              <a:t>CARD_SEARCH with attribute filters</a:t>
            </a:r>
          </a:p>
        </p:txBody>
      </p:sp>
      <p:sp>
        <p:nvSpPr>
          <p:cNvPr id="88" name="Feature Semantic View"/>
          <p:cNvSpPr/>
          <p:nvPr/>
        </p:nvSpPr>
        <p:spPr>
          <a:xfrm>
            <a:off x="4663440" y="2194560"/>
            <a:ext cx="2011680" cy="804672"/>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4754879" y="2267712"/>
            <a:ext cx="1828800" cy="713232"/>
          </a:xfrm>
          <a:prstGeom prst="rect">
            <a:avLst/>
          </a:prstGeom>
          <a:noFill/>
        </p:spPr>
        <p:txBody>
          <a:bodyPr wrap="square" lIns="36576" rIns="36576" tIns="18288" bIns="18288" anchor="t">
            <a:spAutoFit/>
          </a:bodyPr>
          <a:lstStyle/>
          <a:p>
            <a:pPr algn="l">
              <a:spcAft>
                <a:spcPts val="200"/>
              </a:spcAft>
            </a:pPr>
            <a:r>
              <a:rPr sz="1050" b="1" i="0">
                <a:solidFill>
                  <a:srgbClr val="0B1320"/>
                </a:solidFill>
                <a:latin typeface="Arial"/>
              </a:rPr>
              <a:t>Semantic View</a:t>
            </a:r>
          </a:p>
          <a:p>
            <a:pPr algn="l">
              <a:spcAft>
                <a:spcPts val="200"/>
              </a:spcAft>
            </a:pPr>
            <a:r>
              <a:rPr sz="900" b="0" i="0">
                <a:solidFill>
                  <a:srgbClr val="3F4A5A"/>
                </a:solidFill>
                <a:latin typeface="Arial"/>
              </a:rPr>
              <a:t>Cortex Analyst + 10 verified queries</a:t>
            </a:r>
          </a:p>
        </p:txBody>
      </p:sp>
      <p:sp>
        <p:nvSpPr>
          <p:cNvPr id="90" name="Feature Cortex Agent"/>
          <p:cNvSpPr/>
          <p:nvPr/>
        </p:nvSpPr>
        <p:spPr>
          <a:xfrm>
            <a:off x="6757416" y="2194560"/>
            <a:ext cx="2011680" cy="804672"/>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6848855" y="2267712"/>
            <a:ext cx="1828800" cy="713232"/>
          </a:xfrm>
          <a:prstGeom prst="rect">
            <a:avLst/>
          </a:prstGeom>
          <a:noFill/>
        </p:spPr>
        <p:txBody>
          <a:bodyPr wrap="square" lIns="36576" rIns="36576" tIns="18288" bIns="18288" anchor="t">
            <a:spAutoFit/>
          </a:bodyPr>
          <a:lstStyle/>
          <a:p>
            <a:pPr algn="l">
              <a:spcAft>
                <a:spcPts val="200"/>
              </a:spcAft>
            </a:pPr>
            <a:r>
              <a:rPr sz="1050" b="1" i="0">
                <a:solidFill>
                  <a:srgbClr val="0B1320"/>
                </a:solidFill>
                <a:latin typeface="Arial"/>
              </a:rPr>
              <a:t>Cortex Agent</a:t>
            </a:r>
          </a:p>
          <a:p>
            <a:pPr algn="l">
              <a:spcAft>
                <a:spcPts val="200"/>
              </a:spcAft>
            </a:pPr>
            <a:r>
              <a:rPr sz="900" b="0" i="0">
                <a:solidFill>
                  <a:srgbClr val="3F4A5A"/>
                </a:solidFill>
                <a:latin typeface="Arial"/>
              </a:rPr>
              <a:t>Search + Analyst + draft tool</a:t>
            </a:r>
          </a:p>
        </p:txBody>
      </p:sp>
      <p:sp>
        <p:nvSpPr>
          <p:cNvPr id="92" name="Feature Snowpark procs"/>
          <p:cNvSpPr/>
          <p:nvPr/>
        </p:nvSpPr>
        <p:spPr>
          <a:xfrm>
            <a:off x="4663440" y="3090672"/>
            <a:ext cx="2011680" cy="804672"/>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4754879" y="3163824"/>
            <a:ext cx="1828800" cy="713232"/>
          </a:xfrm>
          <a:prstGeom prst="rect">
            <a:avLst/>
          </a:prstGeom>
          <a:noFill/>
        </p:spPr>
        <p:txBody>
          <a:bodyPr wrap="square" lIns="36576" rIns="36576" tIns="18288" bIns="18288" anchor="t">
            <a:spAutoFit/>
          </a:bodyPr>
          <a:lstStyle/>
          <a:p>
            <a:pPr algn="l">
              <a:spcAft>
                <a:spcPts val="200"/>
              </a:spcAft>
            </a:pPr>
            <a:r>
              <a:rPr sz="1050" b="1" i="0">
                <a:solidFill>
                  <a:srgbClr val="0B1320"/>
                </a:solidFill>
                <a:latin typeface="Arial"/>
              </a:rPr>
              <a:t>Snowpark procs</a:t>
            </a:r>
          </a:p>
          <a:p>
            <a:pPr algn="l">
              <a:spcAft>
                <a:spcPts val="200"/>
              </a:spcAft>
            </a:pPr>
            <a:r>
              <a:rPr sz="900" b="0" i="0">
                <a:solidFill>
                  <a:srgbClr val="3F4A5A"/>
                </a:solidFill>
                <a:latin typeface="Arial"/>
              </a:rPr>
              <a:t>draft / approve / close job</a:t>
            </a:r>
          </a:p>
        </p:txBody>
      </p:sp>
      <p:sp>
        <p:nvSpPr>
          <p:cNvPr id="94" name="Feature Streamlit in Snowflake"/>
          <p:cNvSpPr/>
          <p:nvPr/>
        </p:nvSpPr>
        <p:spPr>
          <a:xfrm>
            <a:off x="6757416" y="3090672"/>
            <a:ext cx="2011680" cy="804672"/>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6848855" y="3163824"/>
            <a:ext cx="1828800" cy="713232"/>
          </a:xfrm>
          <a:prstGeom prst="rect">
            <a:avLst/>
          </a:prstGeom>
          <a:noFill/>
        </p:spPr>
        <p:txBody>
          <a:bodyPr wrap="square" lIns="36576" rIns="36576" tIns="18288" bIns="18288" anchor="t">
            <a:spAutoFit/>
          </a:bodyPr>
          <a:lstStyle/>
          <a:p>
            <a:pPr algn="l">
              <a:spcAft>
                <a:spcPts val="200"/>
              </a:spcAft>
            </a:pPr>
            <a:r>
              <a:rPr sz="1050" b="1" i="0">
                <a:solidFill>
                  <a:srgbClr val="0B1320"/>
                </a:solidFill>
                <a:latin typeface="Arial"/>
              </a:rPr>
              <a:t>Streamlit in Snowflake</a:t>
            </a:r>
          </a:p>
          <a:p>
            <a:pPr algn="l">
              <a:spcAft>
                <a:spcPts val="200"/>
              </a:spcAft>
            </a:pPr>
            <a:r>
              <a:rPr sz="900" b="0" i="0">
                <a:solidFill>
                  <a:srgbClr val="3F4A5A"/>
                </a:solidFill>
                <a:latin typeface="Arial"/>
              </a:rPr>
              <a:t>5-page app</a:t>
            </a:r>
          </a:p>
        </p:txBody>
      </p:sp>
      <p:sp>
        <p:nvSpPr>
          <p:cNvPr id="96" name="Feature Tasks + monitor"/>
          <p:cNvSpPr/>
          <p:nvPr/>
        </p:nvSpPr>
        <p:spPr>
          <a:xfrm>
            <a:off x="4663440" y="3986783"/>
            <a:ext cx="2011680" cy="804672"/>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4754879" y="4059935"/>
            <a:ext cx="1828800" cy="713232"/>
          </a:xfrm>
          <a:prstGeom prst="rect">
            <a:avLst/>
          </a:prstGeom>
          <a:noFill/>
        </p:spPr>
        <p:txBody>
          <a:bodyPr wrap="square" lIns="36576" rIns="36576" tIns="18288" bIns="18288" anchor="t">
            <a:spAutoFit/>
          </a:bodyPr>
          <a:lstStyle/>
          <a:p>
            <a:pPr algn="l">
              <a:spcAft>
                <a:spcPts val="200"/>
              </a:spcAft>
            </a:pPr>
            <a:r>
              <a:rPr sz="1050" b="1" i="0">
                <a:solidFill>
                  <a:srgbClr val="0B1320"/>
                </a:solidFill>
                <a:latin typeface="Arial"/>
              </a:rPr>
              <a:t>Tasks + monitor</a:t>
            </a:r>
          </a:p>
          <a:p>
            <a:pPr algn="l">
              <a:spcAft>
                <a:spcPts val="200"/>
              </a:spcAft>
            </a:pPr>
            <a:r>
              <a:rPr sz="900" b="0" i="0">
                <a:solidFill>
                  <a:srgbClr val="3F4A5A"/>
                </a:solidFill>
                <a:latin typeface="Arial"/>
              </a:rPr>
              <a:t>backfill task, 20-credit cap</a:t>
            </a:r>
          </a:p>
        </p:txBody>
      </p:sp>
      <p:sp>
        <p:nvSpPr>
          <p:cNvPr id="98" name="Feature Plain SQL"/>
          <p:cNvSpPr/>
          <p:nvPr/>
        </p:nvSpPr>
        <p:spPr>
          <a:xfrm>
            <a:off x="6757416" y="3986783"/>
            <a:ext cx="2011680" cy="804672"/>
          </a:xfrm>
          <a:prstGeom prst="roundRect">
            <a:avLst>
              <a:gd name="adj" fmla="val 8000"/>
            </a:avLst>
          </a:prstGeom>
          <a:solidFill>
            <a:srgbClr val="F6F8FB"/>
          </a:solidFill>
          <a:ln w="12700">
            <a:solidFill>
              <a:srgbClr val="C9D6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6848855" y="4059935"/>
            <a:ext cx="1828800" cy="713232"/>
          </a:xfrm>
          <a:prstGeom prst="rect">
            <a:avLst/>
          </a:prstGeom>
          <a:noFill/>
        </p:spPr>
        <p:txBody>
          <a:bodyPr wrap="square" lIns="36576" rIns="36576" tIns="18288" bIns="18288" anchor="t">
            <a:spAutoFit/>
          </a:bodyPr>
          <a:lstStyle/>
          <a:p>
            <a:pPr algn="l">
              <a:spcAft>
                <a:spcPts val="200"/>
              </a:spcAft>
            </a:pPr>
            <a:r>
              <a:rPr sz="1050" b="1" i="0">
                <a:solidFill>
                  <a:srgbClr val="0B1320"/>
                </a:solidFill>
                <a:latin typeface="Arial"/>
              </a:rPr>
              <a:t>Plain SQL</a:t>
            </a:r>
          </a:p>
          <a:p>
            <a:pPr algn="l">
              <a:spcAft>
                <a:spcPts val="200"/>
              </a:spcAft>
            </a:pPr>
            <a:r>
              <a:rPr sz="900" b="0" i="0">
                <a:solidFill>
                  <a:srgbClr val="3F4A5A"/>
                </a:solidFill>
                <a:latin typeface="Arial"/>
              </a:rPr>
              <a:t>OEE, anomalies, graph views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8" title="timer 1 min cowsswedededexeco cli.pn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